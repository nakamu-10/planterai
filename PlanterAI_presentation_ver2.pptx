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64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822B"/>
    <a:srgbClr val="F0C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C6D3B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90-40EA-8BBC-71172C0B141F}"/>
              </c:ext>
            </c:extLst>
          </c:dPt>
          <c:dPt>
            <c:idx val="1"/>
            <c:invertIfNegative val="0"/>
            <c:bubble3D val="0"/>
            <c:spPr>
              <a:solidFill>
                <a:srgbClr val="A9C6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90-40EA-8BBC-71172C0B141F}"/>
              </c:ext>
            </c:extLst>
          </c:dPt>
          <c:dPt>
            <c:idx val="2"/>
            <c:invertIfNegative val="0"/>
            <c:bubble3D val="0"/>
            <c:spPr>
              <a:solidFill>
                <a:srgbClr val="7FAE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90-40EA-8BBC-71172C0B141F}"/>
              </c:ext>
            </c:extLst>
          </c:dPt>
          <c:dPt>
            <c:idx val="3"/>
            <c:invertIfNegative val="0"/>
            <c:bubble3D val="0"/>
            <c:spPr>
              <a:solidFill>
                <a:srgbClr val="7FAE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890-40EA-8BBC-71172C0B141F}"/>
              </c:ext>
            </c:extLst>
          </c:dPt>
          <c:dPt>
            <c:idx val="4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890-40EA-8BBC-71172C0B141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50" b="0" i="0" u="none" strike="noStrike">
                    <a:solidFill>
                      <a:srgbClr val="3F4A42"/>
                    </a:solidFill>
                    <a:latin typeface="Meiryo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興味が続かない</c:v>
                </c:pt>
                <c:pt idx="1">
                  <c:v>水やりのタイミング</c:v>
                </c:pt>
                <c:pt idx="2">
                  <c:v>異変に気づけない</c:v>
                </c:pt>
                <c:pt idx="3">
                  <c:v>日当たり・置き場所</c:v>
                </c:pt>
                <c:pt idx="4">
                  <c:v>旅行・外出時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27</c:v>
                </c:pt>
                <c:pt idx="2">
                  <c:v>35</c:v>
                </c:pt>
                <c:pt idx="3">
                  <c:v>38</c:v>
                </c:pt>
                <c:pt idx="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90-40EA-8BBC-71172C0B14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3F4A4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12700" cap="flat">
              <a:solidFill>
                <a:srgbClr val="E4E8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67" b="0" i="0" u="none" strike="noStrike">
                <a:solidFill>
                  <a:srgbClr val="9AA79E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年間支出額（円）</c:v>
                </c:pt>
              </c:strCache>
            </c:strRef>
          </c:tx>
          <c:spPr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0" i="0" u="none" strike="noStrike">
                    <a:solidFill>
                      <a:srgbClr val="3F4A42"/>
                    </a:solidFill>
                    <a:latin typeface="Meiryo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3158</c:v>
                </c:pt>
                <c:pt idx="1">
                  <c:v>3068</c:v>
                </c:pt>
                <c:pt idx="2">
                  <c:v>3226</c:v>
                </c:pt>
                <c:pt idx="3">
                  <c:v>3370</c:v>
                </c:pt>
                <c:pt idx="4">
                  <c:v>3476</c:v>
                </c:pt>
                <c:pt idx="5">
                  <c:v>3301</c:v>
                </c:pt>
                <c:pt idx="6">
                  <c:v>2922</c:v>
                </c:pt>
                <c:pt idx="7">
                  <c:v>2963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AD-4B32-A1DE-2206E5D5148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3F4A4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700"/>
          <c:min val="2600"/>
        </c:scaling>
        <c:delete val="0"/>
        <c:axPos val="l"/>
        <c:majorGridlines>
          <c:spPr>
            <a:ln w="12700" cap="flat">
              <a:solidFill>
                <a:srgbClr val="E4E8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67" b="0" i="0" u="none" strike="noStrike">
                <a:solidFill>
                  <a:srgbClr val="9AA79E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キャラ型選好率（%）</c:v>
                </c:pt>
              </c:strCache>
            </c:strRef>
          </c:tx>
          <c:spPr>
            <a:solidFill>
              <a:srgbClr val="D7DCD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DC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D25-4394-9139-74D9619FDEC1}"/>
              </c:ext>
            </c:extLst>
          </c:dPt>
          <c:dPt>
            <c:idx val="1"/>
            <c:invertIfNegative val="0"/>
            <c:bubble3D val="0"/>
            <c:spPr>
              <a:solidFill>
                <a:srgbClr val="C6D3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25-4394-9139-74D9619FDEC1}"/>
              </c:ext>
            </c:extLst>
          </c:dPt>
          <c:dPt>
            <c:idx val="2"/>
            <c:invertIfNegative val="0"/>
            <c:bubble3D val="0"/>
            <c:spPr>
              <a:solidFill>
                <a:srgbClr val="C6D3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25-4394-9139-74D9619FDEC1}"/>
              </c:ext>
            </c:extLst>
          </c:dPt>
          <c:dPt>
            <c:idx val="3"/>
            <c:invertIfNegative val="0"/>
            <c:bubble3D val="0"/>
            <c:spPr>
              <a:solidFill>
                <a:srgbClr val="7FAE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D25-4394-9139-74D9619FDEC1}"/>
              </c:ext>
            </c:extLst>
          </c:dPt>
          <c:dPt>
            <c:idx val="4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D25-4394-9139-74D9619FDE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50" b="0" i="0" u="none" strike="noStrike">
                    <a:solidFill>
                      <a:srgbClr val="3F4A42"/>
                    </a:solidFill>
                    <a:latin typeface="Meiryo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ゲーム経験なし</c:v>
                </c:pt>
                <c:pt idx="1">
                  <c:v>未経験者</c:v>
                </c:pt>
                <c:pt idx="2">
                  <c:v>離脱者</c:v>
                </c:pt>
                <c:pt idx="3">
                  <c:v>ゲーム経験あり</c:v>
                </c:pt>
                <c:pt idx="4">
                  <c:v>現在育成中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32</c:v>
                </c:pt>
                <c:pt idx="2">
                  <c:v>33</c:v>
                </c:pt>
                <c:pt idx="3">
                  <c:v>42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D25-4394-9139-74D9619FDE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3F4A4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E4E8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67" b="0" i="0" u="none" strike="noStrike">
                <a:solidFill>
                  <a:srgbClr val="9AA79E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33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PlanterAIは、環境センシングとLLMで植物に人格を与え、自ら状態を訴えるプランター型デバイス。本日は実機デモと、既存製品にない新規性 ―「植物に嘘をつかせない設計」― を中心に報告する。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実機デモまたは短い動画。センサー値→状態分類→セリフ生成→LINE通知→OLED表情の一連が動作していることを示す。OLEDはPC画面に拡大表示する。デモ前に表情とセリフが食い違っていないか必ず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能動的な働きかけが必要な根拠。育成経験者61名中89%が枯死経験、その78%が手遅れで気づいた。見た目判断の自信は2.05/5。回答者の80%が10〜20代・学生である点は参考スライド4で補足。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障壁の上位3つ（旅行時47%・置き場所46%・異変の見逃し42%）は、いずれも遠隔で状態が届く仕組みでしか解けない。離脱者45名のうち51%が条件つきで再参入意向を示している。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新規性の核。Luaは15種類の表情で身体性を持つがオフライン・本体表示のみ。Xiaomiはアプリ通知で遠隔に届くが数値のまま。自動水やり機は状態を伝えない。さらに4行目が重要 ― LLMを繋ぐだけの構成は今後必ず出るが、発話の信頼性で×になる。次のスライドでその理由を示す。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発表で最も重要なスライド。デモでは実際に異常値を注入し、直結型なら何と言うか／PlanterAIが何と言うかを並べて見せる。「LLMプランター」は今後乱立するが、そこで差がつくのは嘘をつかないこと。ここが我々の主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LLMが受け取るのは構造化JSONのみで、センサーの数値は一度も渡らない。この遮断が Layer 3a・3b の両方に効く。表情もLLMではなく決定論の状態から生成するため、セリフと顔が矛盾しない。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実装上の工夫3点。いずれもデモで見せられる。3点目の双方向チャットは、ユーザーが「調子どう？」と聞いてもLLMにセンサー値を解釈させず、emotion_logsの確定値を参照する点が設計の一貫性を示す。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望は3方向。本体液晶は既に実装済みなので、次は表情バリエーションの拡張。カメラも判定は決定論のまま保つ設計方針を明言することで、アーキテクチャの一貫性を示す。価格分布の詳細は参考スライド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まとめ。1点目を最初に置くのが今回の変更点 ― 新規性の核はアーキテクチャにある。質疑では参考スライドを使い分ける。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市場背景を問われたときに出す。コロナ禍で伸びた需要が2023年以降減少しており、継続の難しさが背景にある。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ターゲットを問われたときに出す。擬人化の選好を分けるのは年齢ではなく育成ゲーム経験。最有望は現在育成中の層、最大ボリュームは離脱者45名。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擬人化への反論を先回りするスライド。モチベ向上は平均4.08と支持されたが、続けて見られる型は数値型が上回った。だから二択にせず、既定をキャラ、切替でデータとする。自由記述にも同じ要望があり、既存構成のUIで実現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限界を問われたときに出す。自分から先に述べると誠実さが伝わるので、質疑で触れられたら即座に開く。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-1234440"/>
            <a:ext cx="6035040" cy="7863840"/>
          </a:xfrm>
          <a:prstGeom prst="ellipse">
            <a:avLst/>
          </a:prstGeom>
          <a:solidFill>
            <a:srgbClr val="1A4526"/>
          </a:solidFill>
          <a:ln w="12700">
            <a:solidFill>
              <a:srgbClr val="1A45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icons/seedl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14884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78308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Planter AI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04672" y="2852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植物の擬人化対話・育成支援 IoT システム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04672" y="3520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3DEC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測るだけの装置から、自ら語りかける相棒へ 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5257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B9C7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中村耕介（情報理工学域 II 類 先端ロボティクスプログラム 3 年）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B9C7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地引宙翔（情報理工学域 II 類 電子情報学プログラム 3 年）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実機デモ：センサーから発話・表情まで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 → 状態判定 → セリフ生成 → LINE 通知と OLED 表情。双方向チャットも稼働中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96000" y="1446306"/>
            <a:ext cx="4279392" cy="1115568"/>
          </a:xfrm>
          <a:prstGeom prst="roundRect">
            <a:avLst>
              <a:gd name="adj" fmla="val 8197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306312" y="173891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icons/chip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328" y="186693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82968" y="157432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82968" y="187607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ESP32-DevKitC ＋ SEN0193 土壌水分・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BME280 温湿度・TSL2591 照度・SH1106 OLED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96000" y="2699034"/>
            <a:ext cx="4279392" cy="1115568"/>
          </a:xfrm>
          <a:prstGeom prst="roundRect">
            <a:avLst>
              <a:gd name="adj" fmla="val 8197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6306312" y="299164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" descr="/home/claude/icons/cloud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28" y="311965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82968" y="282705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82968" y="312880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Supabase Edge Functions（Deno）＋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Flash ＋ LINE Messaging API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096000" y="3951762"/>
            <a:ext cx="4279392" cy="1115568"/>
          </a:xfrm>
          <a:prstGeom prst="roundRect">
            <a:avLst>
              <a:gd name="adj" fmla="val 819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6306312" y="424437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/home/claude/icons/commen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328" y="437238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82968" y="407977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982968" y="438153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へのプッシュ通知と返信応答、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 OLED の表情アニメーション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440680"/>
            <a:ext cx="10908792" cy="713232"/>
          </a:xfrm>
          <a:prstGeom prst="roundRect">
            <a:avLst>
              <a:gd name="adj" fmla="val 12821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868680" y="544068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r>
              <a:rPr lang="en-US" sz="1800" b="1" dirty="0" err="1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が見に行くのではなく、植物から届く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193E34F7-1AB9-11F9-F712-48ACDD4CC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504" y="1417320"/>
            <a:ext cx="3063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なぜ「働きかけ」が要るのか（調査 N=83）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見せるだけでは足りない ― </a:t>
            </a:r>
            <a:r>
              <a:rPr lang="en-US" sz="1550" dirty="0" err="1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ユーザーは</a:t>
            </a:r>
            <a:r>
              <a:rPr lang="ja-JP" alt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自力で植物からの</a:t>
            </a:r>
            <a:r>
              <a:rPr lang="en-US" altLang="ja-JP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SOS</a:t>
            </a:r>
            <a:r>
              <a:rPr lang="ja-JP" alt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に気づけない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89%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が枯死を経験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291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育成経験者 61 名中 54 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35808" y="160020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172968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78%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172968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が手遅れで気づいた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45536" y="3291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枯死経験者 54 名中 42 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31536" y="160020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68696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568696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見た目判断の自信 /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41264" y="3291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自信が低い人が 74%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73568" y="1600200"/>
            <a:ext cx="3575304" cy="2286000"/>
          </a:xfrm>
          <a:prstGeom prst="roundRect">
            <a:avLst>
              <a:gd name="adj" fmla="val 4000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211312" y="181051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0" descr="/home/claude/icons/war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947672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11312" y="246888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「表示を見に行く」前提の製品では、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気づけないまま枯らすことは防げない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11312" y="324612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サインは微細な外観変化でしか出ない。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人が読み取れないことは数値で確定した。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枯死経験者が異変に気づいたタイミング（n=54）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58368" y="4498848"/>
            <a:ext cx="800100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658368" y="4498848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手遅れになってから  78%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659368" y="4498848"/>
            <a:ext cx="1737360" cy="566928"/>
          </a:xfrm>
          <a:prstGeom prst="rect">
            <a:avLst/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8659368" y="4498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396728" y="4498848"/>
            <a:ext cx="640080" cy="566928"/>
          </a:xfrm>
          <a:prstGeom prst="rect">
            <a:avLst/>
          </a:prstGeom>
          <a:solidFill>
            <a:srgbClr val="C3CFBF"/>
          </a:solidFill>
          <a:ln w="12700">
            <a:solidFill>
              <a:srgbClr val="C3C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658368" y="5138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早期に気づいたが対処不明 17%　／　原因不明ほか 6%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14286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pPr algn="ctr"/>
            <a:endParaRPr lang="ja-JP" altLang="en-US" dirty="0"/>
          </a:p>
        </p:txBody>
      </p:sp>
      <p:sp>
        <p:nvSpPr>
          <p:cNvPr id="29" name="Text 26"/>
          <p:cNvSpPr/>
          <p:nvPr/>
        </p:nvSpPr>
        <p:spPr>
          <a:xfrm>
            <a:off x="86868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だから、状態が変わった瞬間にデバイス側から届ける必要がある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遠隔で届くことが、障壁の上位 3 つを解く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Q12 育成をやめた／始めない理由（複数選択, N=83）</a:t>
            </a:r>
            <a:endParaRPr lang="en-US" sz="15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92899954"/>
              </p:ext>
            </p:extLst>
          </p:nvPr>
        </p:nvGraphicFramePr>
        <p:xfrm>
          <a:off x="548640" y="1618488"/>
          <a:ext cx="58521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709928"/>
            <a:ext cx="4828032" cy="1005840"/>
          </a:xfrm>
          <a:prstGeom prst="roundRect">
            <a:avLst>
              <a:gd name="adj" fmla="val 9091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6931152" y="19659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icons/plane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093976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71232" y="1709928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47%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577072" y="17099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留守中も LINE に状態が届く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720840" y="2898648"/>
            <a:ext cx="4828032" cy="1005840"/>
          </a:xfrm>
          <a:prstGeom prst="roundRect">
            <a:avLst>
              <a:gd name="adj" fmla="val 9091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6931152" y="31546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icons/sun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3282696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71232" y="2898648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46%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577072" y="289864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照度センサーで可視化・助言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720840" y="4087368"/>
            <a:ext cx="4828032" cy="1005840"/>
          </a:xfrm>
          <a:prstGeom prst="roundRect">
            <a:avLst>
              <a:gd name="adj" fmla="val 9091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6931152" y="4343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/home/claude/icons/bell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4471416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71232" y="4087368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42%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8577072" y="40873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状態遷移トリガー通知で解決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1605A449-E233-6ED8-1AE5-169B35AC20D9}"/>
              </a:ext>
            </a:extLst>
          </p:cNvPr>
          <p:cNvSpPr/>
          <p:nvPr/>
        </p:nvSpPr>
        <p:spPr>
          <a:xfrm>
            <a:off x="548640" y="5687568"/>
            <a:ext cx="10908792" cy="640080"/>
          </a:xfrm>
          <a:prstGeom prst="roundRect">
            <a:avLst>
              <a:gd name="adj" fmla="val 14286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2A4D935B-4A65-0766-6A0D-CBD338686571}"/>
              </a:ext>
            </a:extLst>
          </p:cNvPr>
          <p:cNvSpPr/>
          <p:nvPr/>
        </p:nvSpPr>
        <p:spPr>
          <a:xfrm>
            <a:off x="777240" y="56875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800" b="1" dirty="0" err="1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</a:t>
            </a: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r>
              <a:rPr lang="en-US" altLang="ja-JP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ユーザーが</a:t>
            </a:r>
            <a:r>
              <a:rPr lang="en-US" altLang="ja-JP" sz="1800" b="1" dirty="0" err="1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見に行く」製品では</a:t>
            </a: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取り除けない</a:t>
            </a:r>
            <a:r>
              <a:rPr lang="en-US" altLang="ja-JP" sz="1800" b="1" dirty="0" err="1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障壁</a:t>
            </a: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である</a:t>
            </a:r>
            <a:endParaRPr lang="en-US" altLang="ja-JP" sz="1800" dirty="0">
              <a:solidFill>
                <a:srgbClr val="D9822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新規性：身体性・遠隔性・そして発話の信頼性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既存のスマートプランター／自動水やり機、および「LLM を直結しただけの構成」との比較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3840480" y="1463040"/>
            <a:ext cx="1541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状態を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82158" y="1463040"/>
            <a:ext cx="1541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遠隔で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3837" y="1463040"/>
            <a:ext cx="1541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擬人化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された身体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65515" y="1463040"/>
            <a:ext cx="1541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文脈のある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07194" y="1463040"/>
            <a:ext cx="1541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発話の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68680" y="21214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Lua（Mu Design）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40480" y="2121408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382158" y="2121408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13" name="Text 11"/>
          <p:cNvSpPr/>
          <p:nvPr/>
        </p:nvSpPr>
        <p:spPr>
          <a:xfrm>
            <a:off x="6923837" y="2121408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465515" y="2121408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15" name="Text 13"/>
          <p:cNvSpPr/>
          <p:nvPr/>
        </p:nvSpPr>
        <p:spPr>
          <a:xfrm>
            <a:off x="10007194" y="2121408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C2C9C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F8F9F7"/>
          </a:solidFill>
          <a:ln w="12700">
            <a:solidFill>
              <a:srgbClr val="F8F9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Xiaomi Smart Flower Pot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840480" y="2834640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382158" y="2834640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923837" y="2834640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21" name="Text 19"/>
          <p:cNvSpPr/>
          <p:nvPr/>
        </p:nvSpPr>
        <p:spPr>
          <a:xfrm>
            <a:off x="8465515" y="2834640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22" name="Text 20"/>
          <p:cNvSpPr/>
          <p:nvPr/>
        </p:nvSpPr>
        <p:spPr>
          <a:xfrm>
            <a:off x="10007194" y="2834640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C2C9C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640080" y="3547872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68680" y="3547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自動水やり機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840480" y="3547872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5382158" y="3547872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27" name="Text 25"/>
          <p:cNvSpPr/>
          <p:nvPr/>
        </p:nvSpPr>
        <p:spPr>
          <a:xfrm>
            <a:off x="6923837" y="3547872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28" name="Text 26"/>
          <p:cNvSpPr/>
          <p:nvPr/>
        </p:nvSpPr>
        <p:spPr>
          <a:xfrm>
            <a:off x="8465515" y="3547872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altLang="ja-JP" dirty="0"/>
          </a:p>
        </p:txBody>
      </p:sp>
      <p:sp>
        <p:nvSpPr>
          <p:cNvPr id="29" name="Text 27"/>
          <p:cNvSpPr/>
          <p:nvPr/>
        </p:nvSpPr>
        <p:spPr>
          <a:xfrm>
            <a:off x="10007194" y="3547872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C2C9C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</a:t>
            </a:r>
            <a:endParaRPr lang="en-US" sz="1850" dirty="0"/>
          </a:p>
        </p:txBody>
      </p:sp>
      <p:sp>
        <p:nvSpPr>
          <p:cNvPr id="30" name="Shape 28"/>
          <p:cNvSpPr/>
          <p:nvPr/>
        </p:nvSpPr>
        <p:spPr>
          <a:xfrm>
            <a:off x="640080" y="4261104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F8F9F7"/>
          </a:solidFill>
          <a:ln w="12700">
            <a:solidFill>
              <a:srgbClr val="F8F9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68680" y="42611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直結型（後発が取る構成）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840480" y="4261104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5382158" y="4261104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6923837" y="4261104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8465515" y="4261104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36" name="Text 34"/>
          <p:cNvSpPr/>
          <p:nvPr/>
        </p:nvSpPr>
        <p:spPr>
          <a:xfrm>
            <a:off x="10007194" y="4261104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40080" y="4974336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E2EFD6"/>
          </a:solidFill>
          <a:ln w="1905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68680" y="49743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PlanterAI（本提案）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3840480" y="4974336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40" name="Text 38"/>
          <p:cNvSpPr/>
          <p:nvPr/>
        </p:nvSpPr>
        <p:spPr>
          <a:xfrm>
            <a:off x="5382158" y="4974336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41" name="Text 39"/>
          <p:cNvSpPr/>
          <p:nvPr/>
        </p:nvSpPr>
        <p:spPr>
          <a:xfrm>
            <a:off x="6923837" y="4974336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42" name="Text 40"/>
          <p:cNvSpPr/>
          <p:nvPr/>
        </p:nvSpPr>
        <p:spPr>
          <a:xfrm>
            <a:off x="8465515" y="4974336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43" name="Text 41"/>
          <p:cNvSpPr/>
          <p:nvPr/>
        </p:nvSpPr>
        <p:spPr>
          <a:xfrm>
            <a:off x="10007194" y="4974336"/>
            <a:ext cx="1541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50" dirty="0"/>
          </a:p>
        </p:txBody>
      </p:sp>
      <p:sp>
        <p:nvSpPr>
          <p:cNvPr id="44" name="Shape 42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6868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植物が自ら訴えかけてくる。ただ </a:t>
            </a: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</a:t>
            </a:r>
            <a:r>
              <a:rPr lang="en-US" sz="1800" b="1" dirty="0" err="1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を繋ぐだけ</a:t>
            </a: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でなく、</a:t>
            </a: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sz="1800" b="1" dirty="0" err="1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嘘をつかせない設計</a:t>
            </a: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endParaRPr lang="en-US" altLang="ja-JP" sz="1800" b="1" dirty="0">
              <a:solidFill>
                <a:srgbClr val="D9822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植物</a:t>
            </a:r>
            <a:r>
              <a:rPr lang="ja-JP" alt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に噓をつかせない設計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センサーの生データを LLM に渡さない ― </a:t>
            </a:r>
            <a:r>
              <a:rPr lang="en-US" sz="1550" dirty="0" err="1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これが本提案の技術的</a:t>
            </a:r>
            <a:r>
              <a:rPr lang="ja-JP" alt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核心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4041648"/>
          </a:xfrm>
          <a:prstGeom prst="roundRect">
            <a:avLst>
              <a:gd name="adj" fmla="val 2262"/>
            </a:avLst>
          </a:prstGeom>
          <a:solidFill>
            <a:srgbClr val="F7EDEA"/>
          </a:solidFill>
          <a:ln w="12700">
            <a:solidFill>
              <a:srgbClr val="F7ED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6112" y="171907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icons/war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5166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190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生データを LLM に渡すと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4400" y="23957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センサーが一瞬だけ異常値を返す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2724912"/>
            <a:ext cx="4983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CF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51560" y="2724912"/>
            <a:ext cx="4828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4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air_temp_c: 180.1   ( BME280 の begin() 失敗値 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32735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  LLM が数値を「解釈」してしまう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3621024"/>
            <a:ext cx="4800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CF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1097280" y="36210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「あつい…！ ボク、溶けちゃうよ…！」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4480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ja-JP" altLang="en-US" sz="1400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スマートプランターにおいて植物の状態を正しくユーザーに届けることが何よりも大切であり、</a:t>
            </a:r>
            <a:r>
              <a:rPr lang="en-US" sz="1400" b="1" dirty="0" err="1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これは致命傷になる</a:t>
            </a:r>
            <a:r>
              <a:rPr lang="en-US" sz="1400" b="1" dirty="0">
                <a:solidFill>
                  <a:srgbClr val="C444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481328"/>
            <a:ext cx="5349240" cy="4041648"/>
          </a:xfrm>
          <a:prstGeom prst="roundRect">
            <a:avLst>
              <a:gd name="adj" fmla="val 2262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6455664" y="171907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1" descr="/home/claude/icons/shield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1851660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171907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PlanterAI：状態を確定させてから渡す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6473952" y="23957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中央値フィルタが異常値を除去 → ルールベースが判定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473952" y="2724912"/>
            <a:ext cx="4800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FDE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/>
          <p:nvPr/>
        </p:nvSpPr>
        <p:spPr>
          <a:xfrm>
            <a:off x="6629400" y="2798064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1D4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"emotion":   "不安",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1D4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"complaint":  "水分不足",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1D4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"duration":   "2日",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1D4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"urgency":    "high" }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73952" y="39502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  LLM が受け取るのは、この JSON だけ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473952" y="4297680"/>
            <a:ext cx="4800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E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0"/>
          <p:cNvSpPr/>
          <p:nvPr/>
        </p:nvSpPr>
        <p:spPr>
          <a:xfrm>
            <a:off x="6638544" y="42976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「おとといからずっと、のど かわいてるの…」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73952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</a:t>
            </a:r>
            <a:r>
              <a:rPr lang="ja-JP" alt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うことを</a:t>
            </a:r>
            <a:r>
              <a:rPr lang="en-US" sz="1400" b="1" dirty="0" err="1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センサーが確定した事実だけに限定</a:t>
            </a:r>
            <a:r>
              <a:rPr lang="ja-JP" alt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</a:t>
            </a: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40080" y="576072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3"/>
          <p:cNvSpPr/>
          <p:nvPr/>
        </p:nvSpPr>
        <p:spPr>
          <a:xfrm>
            <a:off x="868680" y="57607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</a:t>
            </a:r>
            <a:r>
              <a:rPr lang="ja-JP" alt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に解釈をさせず、ルールベースで</a:t>
            </a: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「どう言うか」だけを決める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実装：判定は決定論、表現だけを LLM に委ねる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層構造。Layer 2 で状態が確定し、そこから表現が 2 系統に分岐する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41248" y="1737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icons/thermo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8516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1  正規化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2677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センサー生値 →</a:t>
            </a:r>
            <a:endParaRPr lang="en-US" sz="12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中央値フィルタ →</a:t>
            </a:r>
            <a:endParaRPr lang="en-US" sz="12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快適スコア 0〜100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99232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3346704" y="155448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E2EFD6"/>
          </a:solidFill>
          <a:ln w="1905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3547872" y="1737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icons/lo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18562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96512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2  感情エンジン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47872" y="22677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ルールベース 25 パターン表。</a:t>
            </a:r>
            <a:endParaRPr lang="en-US" sz="12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主訴・緊急度・継続時間を</a:t>
            </a:r>
            <a:endParaRPr lang="en-US" sz="12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決定論的に確定する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99632" y="1554480"/>
            <a:ext cx="128016" cy="3246120"/>
          </a:xfrm>
          <a:prstGeom prst="roundRect">
            <a:avLst>
              <a:gd name="adj" fmla="val 42857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/>
          <p:nvPr/>
        </p:nvSpPr>
        <p:spPr>
          <a:xfrm>
            <a:off x="4800600" y="4864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ここで状態が確定する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（この先に生の数値は流れない）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92240" y="201168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24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/>
          <p:nvPr/>
        </p:nvSpPr>
        <p:spPr>
          <a:xfrm>
            <a:off x="649224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 JSON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909560" y="2263140"/>
            <a:ext cx="274320" cy="0"/>
          </a:xfrm>
          <a:prstGeom prst="line">
            <a:avLst/>
          </a:prstGeom>
          <a:noFill/>
          <a:ln w="25400">
            <a:solidFill>
              <a:srgbClr val="7FAE55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6"/>
          <p:cNvSpPr/>
          <p:nvPr/>
        </p:nvSpPr>
        <p:spPr>
          <a:xfrm>
            <a:off x="7205472" y="2514600"/>
            <a:ext cx="0" cy="1408176"/>
          </a:xfrm>
          <a:prstGeom prst="line">
            <a:avLst/>
          </a:prstGeom>
          <a:noFill/>
          <a:ln w="254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7"/>
          <p:cNvSpPr/>
          <p:nvPr/>
        </p:nvSpPr>
        <p:spPr>
          <a:xfrm>
            <a:off x="7205472" y="3922776"/>
            <a:ext cx="978408" cy="0"/>
          </a:xfrm>
          <a:prstGeom prst="line">
            <a:avLst/>
          </a:prstGeom>
          <a:noFill/>
          <a:ln w="25400">
            <a:solidFill>
              <a:srgbClr val="7FAE55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8"/>
          <p:cNvSpPr/>
          <p:nvPr/>
        </p:nvSpPr>
        <p:spPr>
          <a:xfrm>
            <a:off x="8183880" y="1481328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9"/>
          <p:cNvSpPr/>
          <p:nvPr/>
        </p:nvSpPr>
        <p:spPr>
          <a:xfrm>
            <a:off x="8385048" y="16642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2" descr="/home/claude/icons/robo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1778508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33688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3a  言語（LLM）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385048" y="2194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Flash が口調に変換 → LINE でプッシュ通知・返信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183880" y="3182112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3"/>
          <p:cNvSpPr/>
          <p:nvPr/>
        </p:nvSpPr>
        <p:spPr>
          <a:xfrm>
            <a:off x="8385048" y="3364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3" descr="/home/claude/icons/smile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348" y="3479292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933688" y="3438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3b  視覚（表情）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385048" y="38953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手続き的アニメーションが顔を生成 → 本体 OLED に表示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3346704" y="3401568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7"/>
          <p:cNvSpPr/>
          <p:nvPr/>
        </p:nvSpPr>
        <p:spPr>
          <a:xfrm>
            <a:off x="3547872" y="35844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4" name="Image 4" descr="/home/claude/icons/database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3703320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096512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Supabase（過去ログ）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547872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継続時間・会話履歴・週次サマリ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48056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</a:t>
            </a:r>
            <a:endParaRPr lang="en-US" sz="1800" dirty="0"/>
          </a:p>
        </p:txBody>
      </p:sp>
      <p:sp>
        <p:nvSpPr>
          <p:cNvPr id="38" name="Shape 31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2"/>
          <p:cNvSpPr/>
          <p:nvPr/>
        </p:nvSpPr>
        <p:spPr>
          <a:xfrm>
            <a:off x="86868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同じ確定状態から、言語と表情が生成される ― だからセリフと顔が食い違わない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「話しかけてくる」を成立させる 3 つの設計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 err="1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通知の中身だけでなく、頻度と間合いまで設計して</a:t>
            </a:r>
            <a:r>
              <a:rPr lang="ja-JP" alt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愛着を持ってもらう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32688" y="18105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icons/history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751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過去ログで文脈を持たせる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33628" y="3262942"/>
            <a:ext cx="3133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継続時間と直近の会話をプロンプトに含める。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「おとといからずっと…」と、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 err="1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関係の蓄積が言葉に出る</a:t>
            </a: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98264" y="1536192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690872" y="18105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/home/claude/icons/bell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97510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状態が遷移した瞬間だけ発火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90872" y="327355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同じ状態が続く間は黙る。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定期通知をしないことで、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通知疲れによる無視を防ぐ。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56448" y="1536192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8449056" y="18105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/home/claude/icons/comments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197510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9056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返信すると、答えが返る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49056" y="327355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で話しかけると応答する。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ただし状態は再判定せず、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確定済みの判定結果だけを参照する。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40080" y="512064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1"/>
          <p:cNvSpPr/>
          <p:nvPr/>
        </p:nvSpPr>
        <p:spPr>
          <a:xfrm>
            <a:off x="868680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ただの通知ではなく、関係性も育んでいく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今後の展望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 err="1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身体性と認識能力</a:t>
            </a:r>
            <a:r>
              <a:rPr lang="ja-JP" alt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の向上を図る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2120027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50976" y="2394347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icons/smile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563511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3217307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表情表現の拡張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50976" y="3711083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ja-JP" alt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仕草や</a:t>
            </a:r>
            <a:endParaRPr lang="en-US" altLang="ja-JP" sz="1400" dirty="0">
              <a:solidFill>
                <a:srgbClr val="3F4A42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 err="1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感情バリエーションを増やし</a:t>
            </a: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スマホなしでも状態が伝わる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16552" y="2120027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709160" y="2394347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home/claude/icons/mobile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2563511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17307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専用アプリ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709160" y="3711083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ステータスと連動して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アバターの表情・仕草が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リアルタイムに変わる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74736" y="2120027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8467344" y="2394347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/home/claude/icons/camera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2563511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3217307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カメラによる視覚認識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67344" y="3711083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葉色・萎れを数値化し、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1 の入力に合流。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判定は決定論のまま保つ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</a:rPr>
              <a:t>9</a:t>
            </a:r>
            <a:endParaRPr lang="en-US" sz="125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C1D06B18-5186-49D7-43A9-D17576289B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302502" y="2248043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4754880" cy="4754880"/>
          </a:xfrm>
          <a:prstGeom prst="ellipse">
            <a:avLst/>
          </a:prstGeom>
          <a:solidFill>
            <a:srgbClr val="1A4526"/>
          </a:solidFill>
          <a:ln w="12700">
            <a:solidFill>
              <a:srgbClr val="1A45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icons/seedl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16052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457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1536192"/>
            <a:ext cx="420624" cy="420624"/>
          </a:xfrm>
          <a:prstGeom prst="ellipse">
            <a:avLst/>
          </a:prstGeom>
          <a:solidFill>
            <a:srgbClr val="A8D67C"/>
          </a:solidFill>
          <a:ln w="12700">
            <a:solidFill>
              <a:srgbClr val="A8D67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77240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A1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14813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判定は決定論、表現だけを AI に委ねる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435608" y="1901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D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センサーの生値は LLM に渡さない。植物の言葉には、必ず根拠がある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578608"/>
            <a:ext cx="420624" cy="420624"/>
          </a:xfrm>
          <a:prstGeom prst="ellipse">
            <a:avLst/>
          </a:prstGeom>
          <a:solidFill>
            <a:srgbClr val="2F5C39"/>
          </a:solidFill>
          <a:ln w="12700">
            <a:solidFill>
              <a:srgbClr val="2F5C3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7724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6D9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417320" y="252374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身体性と遠隔性を両立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435608" y="2944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D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Lua は届かず、Xiaomi は数値のまま。両方を満たし、文脈まで持つ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3621024"/>
            <a:ext cx="420624" cy="420624"/>
          </a:xfrm>
          <a:prstGeom prst="ellipse">
            <a:avLst/>
          </a:prstGeom>
          <a:solidFill>
            <a:srgbClr val="2F5C39"/>
          </a:solidFill>
          <a:ln w="12700">
            <a:solidFill>
              <a:srgbClr val="2F5C3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77724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6D9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417320" y="3566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必要性は N=83 の調査で裏付け済み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435608" y="3986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D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見た目判断の自信 2.05 / 5、枯死経験者の 78% が手遅れで気づいた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2940" y="50703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PlanterAI ― </a:t>
            </a:r>
            <a:r>
              <a:rPr lang="en-US" sz="2100" b="1" dirty="0" err="1">
                <a:solidFill>
                  <a:srgbClr val="A8D6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植物を、管理対象から相棒へ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4472" y="384048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0634472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市場背景：観葉植物への支出は減少に転じた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総務省 家計調査「園芸用植物」一世帯当たり年間支出額（2018-2025）</a:t>
            </a:r>
            <a:endParaRPr lang="en-US" sz="15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36192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92024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8321040" y="2084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2020 → 2022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2104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在宅時間の増加で拡大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92440" y="333756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32104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 以降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2104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減少に転じた。多忙な生活では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管理の継続が難しい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 1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4472" y="384048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0634472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誰に刺さるか：効く軸は育成ゲーム経験</a:t>
            </a:r>
            <a:r>
              <a:rPr lang="ja-JP" alt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キャラ・セリフ型を選んだ人の比率（Q14 × Q15）</a:t>
            </a:r>
            <a:endParaRPr lang="en-US" sz="15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36192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60020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832104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 倍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321040" y="22677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ゲーム経験あり 42% ／ なし 12%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年齢より、育成ゲーム経験が選好を分ける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92440" y="315468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321040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ターゲットの優先順位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321040" y="3785616"/>
            <a:ext cx="310896" cy="310896"/>
          </a:xfrm>
          <a:prstGeom prst="ellipse">
            <a:avLst/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83210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759952" y="3749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現在育成中（n=16）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21040" y="4315968"/>
            <a:ext cx="310896" cy="310896"/>
          </a:xfrm>
          <a:prstGeom prst="ellipse">
            <a:avLst/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832104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59952" y="42793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離脱者（n=45）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21040" y="4846320"/>
            <a:ext cx="310896" cy="310896"/>
          </a:xfrm>
          <a:prstGeom prst="ellipse">
            <a:avLst/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8321040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759952" y="4809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未経験者（n=22）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 err="1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2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キャラだけにしない：モードを切り替える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調査では、続けて見られそうな通知は 数値型 47% ＞ キャラ型 36%（N=83）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EEF3E9"/>
          </a:solidFill>
          <a:ln w="12700">
            <a:solidFill>
              <a:srgbClr val="EEF3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1737360"/>
            <a:ext cx="1874520" cy="32461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5400">
            <a:solidFill>
              <a:srgbClr val="1D4A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618488" y="1847088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5DCD3"/>
          </a:solidFill>
          <a:ln w="12700">
            <a:solidFill>
              <a:srgbClr val="D5DC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78992" y="2048256"/>
            <a:ext cx="274320" cy="274320"/>
          </a:xfrm>
          <a:prstGeom prst="ellipse">
            <a:avLst/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426464" y="20116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2F5F0"/>
          </a:solidFill>
          <a:ln w="12700">
            <a:solidFill>
              <a:srgbClr val="F2F5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499616" y="20116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のど かわいた…</a:t>
            </a:r>
            <a:endParaRPr lang="en-US" sz="105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 ちょうだい！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8992" y="2578608"/>
            <a:ext cx="274320" cy="274320"/>
          </a:xfrm>
          <a:prstGeom prst="ellipse">
            <a:avLst/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426464" y="2542032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2F5F0"/>
          </a:solidFill>
          <a:ln w="12700">
            <a:solidFill>
              <a:srgbClr val="F2F5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499616" y="254203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おとといも 頼んだのに…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72768" y="3090672"/>
            <a:ext cx="1115568" cy="292608"/>
          </a:xfrm>
          <a:prstGeom prst="roundRect">
            <a:avLst>
              <a:gd name="adj" fmla="val 25000"/>
            </a:avLst>
          </a:prstGeom>
          <a:solidFill>
            <a:srgbClr val="DDEBCE"/>
          </a:solidFill>
          <a:ln w="12700">
            <a:solidFill>
              <a:srgbClr val="DDEB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45920" y="30906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ja-JP" altLang="en-US" sz="1050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</a:t>
            </a:r>
            <a:r>
              <a:rPr lang="en-US" sz="1050" dirty="0" err="1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あげたよ</a:t>
            </a:r>
            <a:r>
              <a:rPr lang="en-US" sz="1050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8992" y="4480560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F2F5F0"/>
          </a:solidFill>
          <a:ln w="12700">
            <a:solidFill>
              <a:srgbClr val="F2F5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152144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A6B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メッセージを入力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44368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キャラモード（既定）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944368" y="251460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植物が一人称で状態を訴える。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愛着と「また見たい」を生む入口。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Q13「話しかけられたらモチベが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上がる」平均 4.08 / 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9632" y="1481328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519672" y="1737360"/>
            <a:ext cx="1874520" cy="32461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5400">
            <a:solidFill>
              <a:srgbClr val="C6CE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178040" y="1847088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5DCD3"/>
          </a:solidFill>
          <a:ln w="12700">
            <a:solidFill>
              <a:srgbClr val="D5DC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638544" y="1975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今日のステータス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38544" y="2249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土壌水分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52944" y="22494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38544" y="2450592"/>
            <a:ext cx="1508760" cy="100584"/>
          </a:xfrm>
          <a:prstGeom prst="roundRect">
            <a:avLst>
              <a:gd name="adj" fmla="val 45455"/>
            </a:avLst>
          </a:prstGeom>
          <a:solidFill>
            <a:srgbClr val="E4E8E1"/>
          </a:solidFill>
          <a:ln w="12700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638544" y="2450592"/>
            <a:ext cx="422453" cy="100584"/>
          </a:xfrm>
          <a:prstGeom prst="roundRect">
            <a:avLst>
              <a:gd name="adj" fmla="val 45455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638544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52944" y="27249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38544" y="2926080"/>
            <a:ext cx="1508760" cy="100584"/>
          </a:xfrm>
          <a:prstGeom prst="roundRect">
            <a:avLst>
              <a:gd name="adj" fmla="val 45455"/>
            </a:avLst>
          </a:prstGeom>
          <a:solidFill>
            <a:srgbClr val="E4E8E1"/>
          </a:solidFill>
          <a:ln w="12700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638544" y="2926080"/>
            <a:ext cx="1086307" cy="100584"/>
          </a:xfrm>
          <a:prstGeom prst="roundRect">
            <a:avLst>
              <a:gd name="adj" fmla="val 4545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638544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52944" y="32004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620lx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38544" y="3401568"/>
            <a:ext cx="1508760" cy="100584"/>
          </a:xfrm>
          <a:prstGeom prst="roundRect">
            <a:avLst>
              <a:gd name="adj" fmla="val 45455"/>
            </a:avLst>
          </a:prstGeom>
          <a:solidFill>
            <a:srgbClr val="E4E8E1"/>
          </a:solidFill>
          <a:ln w="12700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638544" y="3401568"/>
            <a:ext cx="678942" cy="100584"/>
          </a:xfrm>
          <a:prstGeom prst="roundRect">
            <a:avLst>
              <a:gd name="adj" fmla="val 45455"/>
            </a:avLst>
          </a:prstGeom>
          <a:solidFill>
            <a:srgbClr val="7FAE55"/>
          </a:solidFill>
          <a:ln w="12700">
            <a:solidFill>
              <a:srgbClr val="7FAE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638544" y="3730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水分の推移（7日）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38544" y="3931920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2F5F0"/>
          </a:solidFill>
          <a:ln w="12700">
            <a:solidFill>
              <a:srgbClr val="F2F5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6748272" y="4160520"/>
            <a:ext cx="1280160" cy="2743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638544" y="4663440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4E8E1"/>
          </a:solidFill>
          <a:ln w="12700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711696" y="466344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キャラモードに戻る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データモード（切替）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8503920" y="25146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水分・温度・照度の数値とグラフ。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継続視聴で選ばれた型も押さえる。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自由記述に「基本はキャラ、切替で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数値」という要望が実際にあった。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</a:rPr>
              <a:t>参考 </a:t>
            </a:r>
            <a:r>
              <a:rPr lang="en-US" altLang="ja-JP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</a:rPr>
              <a:t>3</a:t>
            </a:r>
            <a:endParaRPr lang="en-US" sz="1250" dirty="0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CB767869-0BB9-6DD3-B3C3-855D08659782}"/>
              </a:ext>
            </a:extLst>
          </p:cNvPr>
          <p:cNvSpPr/>
          <p:nvPr/>
        </p:nvSpPr>
        <p:spPr>
          <a:xfrm>
            <a:off x="10634472" y="384048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2F8C4837-8D99-B216-F40E-DB1918C5EDD5}"/>
              </a:ext>
            </a:extLst>
          </p:cNvPr>
          <p:cNvSpPr/>
          <p:nvPr/>
        </p:nvSpPr>
        <p:spPr>
          <a:xfrm>
            <a:off x="10634472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4472" y="384048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0634472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31089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本調査の限界と、次の検証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 err="1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アンケートは</a:t>
            </a:r>
            <a:r>
              <a:rPr lang="ja-JP" altLang="en-US" sz="1550" dirty="0">
                <a:solidFill>
                  <a:srgbClr val="4A55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偏りがある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503386" y="1572768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795994" y="184708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home/claude/icons/users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586" y="20116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95994" y="2633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サンプルの偏り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795994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10〜20代が 80%、学生が 76%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95994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 30 代以上へ追加調査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1570" y="1572768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1F2EF"/>
          </a:solidFill>
          <a:ln w="12700">
            <a:solidFill>
              <a:srgbClr val="F1F2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6554178" y="184708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/home/claude/icons/flas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70" y="20116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54178" y="2633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因果は未証明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54178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擬人化 → 愛着 → </a:t>
            </a:r>
            <a:r>
              <a:rPr lang="en-US" sz="1400" dirty="0" err="1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</a:t>
            </a:r>
            <a:r>
              <a:rPr lang="ja-JP" alt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</a:t>
            </a:r>
            <a:r>
              <a:rPr 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ja-JP" altLang="en-US" sz="1400" dirty="0">
                <a:solidFill>
                  <a:srgbClr val="3F4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未検証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54178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7FAE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実機の継続利用ログで検証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0080" y="5230368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868680" y="5230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いずれも次フェーズの検証計画とセットで進めている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13385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 err="1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r>
              <a:rPr lang="en-US" sz="1250" dirty="0">
                <a:solidFill>
                  <a:srgbClr val="A9B3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4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1087</Words>
  <Application>Microsoft Office PowerPoint</Application>
  <PresentationFormat>ワイド画面</PresentationFormat>
  <Paragraphs>270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Meiryo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PlanterAI</dc:title>
  <dc:subject>PptxGenJS Presentation</dc:subject>
  <dc:creator>中村耕介 / 地引宙翔</dc:creator>
  <cp:lastModifiedBy>村 中</cp:lastModifiedBy>
  <cp:revision>4</cp:revision>
  <dcterms:created xsi:type="dcterms:W3CDTF">2026-08-18T07:59:38Z</dcterms:created>
  <dcterms:modified xsi:type="dcterms:W3CDTF">2026-08-19T01:25:12Z</dcterms:modified>
</cp:coreProperties>
</file>