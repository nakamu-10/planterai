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30275784" cy="42803064"/>
  <p:notesSz cx="42803064" cy="30275784"/>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年間支出金額</c:v>
                </c:pt>
              </c:strCache>
            </c:strRef>
          </c:tx>
          <c:spPr>
            <a:solidFill>
              <a:srgbClr val="03AF7A"/>
            </a:solidFill>
            <a:effectLst/>
          </c:spPr>
          <c:invertIfNegative val="0"/>
          <c:dLbls>
            <c:numFmt formatCode="#,##0" sourceLinked="0"/>
            <c:txPr>
              <a:bodyPr/>
              <a:lstStyle/>
              <a:p>
                <a:pPr>
                  <a:defRPr b="1" i="0" strike="noStrike" sz="1800" u="none">
                    <a:solidFill>
                      <a:srgbClr val="1A1A1A"/>
                    </a:solidFill>
                    <a:latin typeface="Meiryo"/>
                  </a:defRPr>
                </a:pPr>
              </a:p>
            </c:txPr>
            <c:showLegendKey val="0"/>
            <c:showVal val="1"/>
            <c:showCatName val="0"/>
            <c:showSerName val="0"/>
            <c:showPercent val="0"/>
            <c:showBubbleSize val="0"/>
            <c:showLeaderLines val="0"/>
          </c:dLbls>
          <c:cat>
            <c:multiLvlStrRef>
              <c:f>Sheet1!$A$2:$A$9</c:f>
              <c:multiLvlStrCache>
                <c:ptCount val="8"/>
                <c:lvl>
                  <c:pt idx="0">
                    <c:v>2018</c:v>
                  </c:pt>
                  <c:pt idx="1">
                    <c:v>2019</c:v>
                  </c:pt>
                  <c:pt idx="2">
                    <c:v>2020</c:v>
                  </c:pt>
                  <c:pt idx="3">
                    <c:v>2021</c:v>
                  </c:pt>
                  <c:pt idx="4">
                    <c:v>2022</c:v>
                  </c:pt>
                  <c:pt idx="5">
                    <c:v>2023</c:v>
                  </c:pt>
                  <c:pt idx="6">
                    <c:v>2024</c:v>
                  </c:pt>
                  <c:pt idx="7">
                    <c:v>2025</c:v>
                  </c:pt>
                </c:lvl>
              </c:multiLvlStrCache>
            </c:multiLvlStrRef>
          </c:cat>
          <c:val>
            <c:numRef>
              <c:f>Sheet1!$B$2:$B$9</c:f>
              <c:numCache>
                <c:formatCode>General</c:formatCode>
                <c:ptCount val="8"/>
                <c:pt idx="0">
                  <c:v>3198</c:v>
                </c:pt>
                <c:pt idx="1">
                  <c:v>3068</c:v>
                </c:pt>
                <c:pt idx="2">
                  <c:v>3226</c:v>
                </c:pt>
                <c:pt idx="3">
                  <c:v>3370</c:v>
                </c:pt>
                <c:pt idx="4">
                  <c:v>3475</c:v>
                </c:pt>
                <c:pt idx="5">
                  <c:v>3301</c:v>
                </c:pt>
                <c:pt idx="6">
                  <c:v>2922</c:v>
                </c:pt>
                <c:pt idx="7">
                  <c:v>2963</c:v>
                </c:pt>
              </c:numCache>
            </c:numRef>
          </c:val>
        </c:ser>
        <c:dLbls>
          <c:numFmt formatCode="#,##0" sourceLinked="0"/>
          <c:txPr>
            <a:bodyPr/>
            <a:lstStyle/>
            <a:p>
              <a:pPr>
                <a:defRPr b="1" i="0" strike="noStrike" sz="1800" u="none">
                  <a:solidFill>
                    <a:srgbClr val="1A1A1A"/>
                  </a:solidFill>
                  <a:latin typeface="Meiryo"/>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2000" b="0" i="0" u="none" strike="noStrike">
                <a:solidFill>
                  <a:srgbClr val="1A1A1A"/>
                </a:solidFill>
                <a:latin typeface="Meiryo"/>
              </a:defRPr>
            </a:pPr>
            <a:endParaRPr lang="en-US"/>
          </a:p>
        </c:txPr>
        <c:crossAx val="2094734552"/>
        <c:crosses val="autoZero"/>
        <c:auto val="1"/>
        <c:lblAlgn val="ctr"/>
        <c:noMultiLvlLbl val="1"/>
      </c:catAx>
      <c:valAx>
        <c:axId val="2094734552"/>
        <c:scaling>
          <c:orientation val="minMax"/>
          <c:max val="3700"/>
          <c:min val="2600"/>
        </c:scaling>
        <c:delete val="0"/>
        <c:axPos val="l"/>
        <c:majorGridlines>
          <c:spPr>
            <a:ln w="12700" cap="flat">
              <a:solidFill>
                <a:srgbClr val="DFE7E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700" b="0" i="0" u="none" strike="noStrike">
                <a:solidFill>
                  <a:srgbClr val="44514B"/>
                </a:solidFill>
                <a:latin typeface="Meiryo"/>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回答数</c:v>
                </c:pt>
              </c:strCache>
            </c:strRef>
          </c:tx>
          <c:spPr>
            <a:solidFill>
              <a:srgbClr val="03AF7A"/>
            </a:solidFill>
            <a:effectLst/>
          </c:spPr>
          <c:invertIfNegative val="0"/>
          <c:dLbls>
            <c:numFmt formatCode="#,##0" sourceLinked="0"/>
            <c:txPr>
              <a:bodyPr/>
              <a:lstStyle/>
              <a:p>
                <a:pPr>
                  <a:defRPr b="1" i="0" strike="noStrike" sz="2300" u="none">
                    <a:solidFill>
                      <a:srgbClr val="1A1A1A"/>
                    </a:solidFill>
                    <a:latin typeface="Meiryo"/>
                  </a:defRPr>
                </a:pPr>
              </a:p>
            </c:txPr>
            <c:showLegendKey val="0"/>
            <c:showVal val="1"/>
            <c:showCatName val="0"/>
            <c:showSerName val="0"/>
            <c:showPercent val="0"/>
            <c:showBubbleSize val="0"/>
            <c:showLeaderLines val="0"/>
          </c:dLbls>
          <c:cat>
            <c:multiLvlStrRef>
              <c:f>Sheet1!$A$2:$A$6</c:f>
              <c:multiLvlStrCache>
                <c:ptCount val="5"/>
                <c:lvl>
                  <c:pt idx="0">
                    <c:v>興味が続かない</c:v>
                  </c:pt>
                  <c:pt idx="1">
                    <c:v>水やりの時期</c:v>
                  </c:pt>
                  <c:pt idx="2">
                    <c:v>異変の見逃し</c:v>
                  </c:pt>
                  <c:pt idx="3">
                    <c:v>置き場所の管理</c:v>
                  </c:pt>
                  <c:pt idx="4">
                    <c:v>外出時の世話</c:v>
                  </c:pt>
                </c:lvl>
              </c:multiLvlStrCache>
            </c:multiLvlStrRef>
          </c:cat>
          <c:val>
            <c:numRef>
              <c:f>Sheet1!$B$2:$B$6</c:f>
              <c:numCache>
                <c:formatCode>General</c:formatCode>
                <c:ptCount val="5"/>
                <c:pt idx="0">
                  <c:v>14</c:v>
                </c:pt>
                <c:pt idx="1">
                  <c:v>27</c:v>
                </c:pt>
                <c:pt idx="2">
                  <c:v>35</c:v>
                </c:pt>
                <c:pt idx="3">
                  <c:v>38</c:v>
                </c:pt>
                <c:pt idx="4">
                  <c:v>39</c:v>
                </c:pt>
              </c:numCache>
            </c:numRef>
          </c:val>
        </c:ser>
        <c:dLbls>
          <c:numFmt formatCode="#,##0" sourceLinked="0"/>
          <c:txPr>
            <a:bodyPr/>
            <a:lstStyle/>
            <a:p>
              <a:pPr>
                <a:defRPr b="1" i="0" strike="noStrike" sz="2300" u="none">
                  <a:solidFill>
                    <a:srgbClr val="1A1A1A"/>
                  </a:solidFill>
                  <a:latin typeface="Meiryo"/>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2300" b="0" i="0" u="none" strike="noStrike">
                <a:solidFill>
                  <a:srgbClr val="1A1A1A"/>
                </a:solidFill>
                <a:latin typeface="Meiryo"/>
              </a:defRPr>
            </a:pPr>
            <a:endParaRPr lang="en-US"/>
          </a:p>
        </c:txPr>
        <c:crossAx val="2094734552"/>
        <c:crosses val="autoZero"/>
        <c:auto val="1"/>
        <c:lblAlgn val="ctr"/>
        <c:noMultiLvlLbl val="1"/>
      </c:catAx>
      <c:valAx>
        <c:axId val="2094734552"/>
        <c:scaling>
          <c:orientation val="minMax"/>
          <c:max val="45"/>
        </c:scaling>
        <c:delete val="0"/>
        <c:axPos val="b"/>
        <c:majorGridlines>
          <c:spPr>
            <a:ln w="12700" cap="flat">
              <a:solidFill>
                <a:srgbClr val="DFE7E2"/>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800" b="0" i="0" u="none" strike="noStrike">
                <a:solidFill>
                  <a:srgbClr val="44514B"/>
                </a:solidFill>
                <a:latin typeface="Meiryo"/>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slideLayout" Target="../slideLayouts/slideLayout1.xml"/><Relationship Id="rId9"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0275784" cy="4297680"/>
          </a:xfrm>
          <a:prstGeom prst="rect">
            <a:avLst/>
          </a:prstGeom>
          <a:solidFill>
            <a:srgbClr val="1E4A38"/>
          </a:solidFill>
          <a:ln/>
        </p:spPr>
      </p:sp>
      <p:sp>
        <p:nvSpPr>
          <p:cNvPr id="3" name="Text 1"/>
          <p:cNvSpPr/>
          <p:nvPr/>
        </p:nvSpPr>
        <p:spPr>
          <a:xfrm>
            <a:off x="1188720" y="365760"/>
            <a:ext cx="24972264" cy="1645920"/>
          </a:xfrm>
          <a:prstGeom prst="rect">
            <a:avLst/>
          </a:prstGeom>
          <a:noFill/>
          <a:ln/>
        </p:spPr>
        <p:txBody>
          <a:bodyPr wrap="square" lIns="0" tIns="0" rIns="0" bIns="0" rtlCol="0" anchor="ctr"/>
          <a:lstStyle/>
          <a:p>
            <a:pPr indent="0" marL="0">
              <a:buNone/>
            </a:pPr>
            <a:r>
              <a:rPr lang="en-US" sz="7000" b="1" dirty="0">
                <a:solidFill>
                  <a:srgbClr val="FFFFFF"/>
                </a:solidFill>
                <a:latin typeface="Meiryo" pitchFamily="34" charset="0"/>
                <a:ea typeface="Meiryo" pitchFamily="34" charset="-122"/>
                <a:cs typeface="Meiryo" pitchFamily="34" charset="-120"/>
              </a:rPr>
              <a:t>PlanterAI：植物が自ら世話を要求する IoT プランター</a:t>
            </a:r>
            <a:endParaRPr lang="en-US" sz="7000" dirty="0"/>
          </a:p>
        </p:txBody>
      </p:sp>
      <p:sp>
        <p:nvSpPr>
          <p:cNvPr id="4" name="Text 2"/>
          <p:cNvSpPr/>
          <p:nvPr/>
        </p:nvSpPr>
        <p:spPr>
          <a:xfrm>
            <a:off x="1188720" y="2011680"/>
            <a:ext cx="24972264" cy="914400"/>
          </a:xfrm>
          <a:prstGeom prst="rect">
            <a:avLst/>
          </a:prstGeom>
          <a:noFill/>
          <a:ln/>
        </p:spPr>
        <p:txBody>
          <a:bodyPr wrap="square" lIns="0" tIns="0" rIns="0" bIns="0" rtlCol="0" anchor="ctr"/>
          <a:lstStyle/>
          <a:p>
            <a:pPr indent="0" marL="0">
              <a:buNone/>
            </a:pPr>
            <a:r>
              <a:rPr lang="en-US" sz="4400" b="1" dirty="0">
                <a:solidFill>
                  <a:srgbClr val="FFFFFF"/>
                </a:solidFill>
                <a:latin typeface="Meiryo" pitchFamily="34" charset="0"/>
                <a:ea typeface="Meiryo" pitchFamily="34" charset="-122"/>
                <a:cs typeface="Meiryo" pitchFamily="34" charset="-120"/>
              </a:rPr>
              <a:t>中村 耕介</a:t>
            </a:r>
            <a:pPr indent="0" marL="0">
              <a:buNone/>
            </a:pPr>
            <a:r>
              <a:rPr lang="en-US" sz="2800" dirty="0">
                <a:solidFill>
                  <a:srgbClr val="AECFBE"/>
                </a:solidFill>
                <a:latin typeface="Meiryo" pitchFamily="34" charset="0"/>
                <a:ea typeface="Meiryo" pitchFamily="34" charset="-122"/>
                <a:cs typeface="Meiryo" pitchFamily="34" charset="-120"/>
              </a:rPr>
              <a:t> †1 　</a:t>
            </a:r>
            <a:pPr indent="0" marL="0">
              <a:buNone/>
            </a:pPr>
            <a:r>
              <a:rPr lang="en-US" sz="4400" b="1" dirty="0">
                <a:solidFill>
                  <a:srgbClr val="FFFFFF"/>
                </a:solidFill>
                <a:latin typeface="Meiryo" pitchFamily="34" charset="0"/>
                <a:ea typeface="Meiryo" pitchFamily="34" charset="-122"/>
                <a:cs typeface="Meiryo" pitchFamily="34" charset="-120"/>
              </a:rPr>
              <a:t>地引 宙翔</a:t>
            </a:r>
            <a:pPr indent="0" marL="0">
              <a:buNone/>
            </a:pPr>
            <a:r>
              <a:rPr lang="en-US" sz="2800" dirty="0">
                <a:solidFill>
                  <a:srgbClr val="AECFBE"/>
                </a:solidFill>
                <a:latin typeface="Meiryo" pitchFamily="34" charset="0"/>
                <a:ea typeface="Meiryo" pitchFamily="34" charset="-122"/>
                <a:cs typeface="Meiryo" pitchFamily="34" charset="-120"/>
              </a:rPr>
              <a:t> †2</a:t>
            </a:r>
            <a:endParaRPr lang="en-US" sz="4400" dirty="0"/>
          </a:p>
        </p:txBody>
      </p:sp>
      <p:sp>
        <p:nvSpPr>
          <p:cNvPr id="5" name="Text 3"/>
          <p:cNvSpPr/>
          <p:nvPr/>
        </p:nvSpPr>
        <p:spPr>
          <a:xfrm>
            <a:off x="1188720" y="3017520"/>
            <a:ext cx="24972264" cy="731520"/>
          </a:xfrm>
          <a:prstGeom prst="rect">
            <a:avLst/>
          </a:prstGeom>
          <a:noFill/>
          <a:ln/>
        </p:spPr>
        <p:txBody>
          <a:bodyPr wrap="square" lIns="0" tIns="0" rIns="0" bIns="0" rtlCol="0" anchor="ctr"/>
          <a:lstStyle/>
          <a:p>
            <a:pPr indent="0" marL="0">
              <a:buNone/>
            </a:pPr>
            <a:r>
              <a:rPr lang="en-US" sz="2600" dirty="0">
                <a:solidFill>
                  <a:srgbClr val="C2DACE"/>
                </a:solidFill>
                <a:latin typeface="Meiryo" pitchFamily="34" charset="0"/>
                <a:ea typeface="Meiryo" pitchFamily="34" charset="-122"/>
                <a:cs typeface="Meiryo" pitchFamily="34" charset="-120"/>
              </a:rPr>
              <a:t>†1, †2　電気通信大学 情報理工学域 II類　／　連絡先：planterai-contact@example.ac.jp</a:t>
            </a:r>
            <a:endParaRPr lang="en-US" sz="2600" dirty="0"/>
          </a:p>
        </p:txBody>
      </p:sp>
      <p:sp>
        <p:nvSpPr>
          <p:cNvPr id="6" name="Shape 4"/>
          <p:cNvSpPr/>
          <p:nvPr/>
        </p:nvSpPr>
        <p:spPr>
          <a:xfrm>
            <a:off x="26892504" y="685800"/>
            <a:ext cx="2194560" cy="2194560"/>
          </a:xfrm>
          <a:prstGeom prst="rect">
            <a:avLst/>
          </a:prstGeom>
          <a:solidFill>
            <a:srgbClr val="FFFFFF"/>
          </a:solidFill>
          <a:ln w="25400">
            <a:solidFill>
              <a:srgbClr val="F6AA00"/>
            </a:solidFill>
            <a:prstDash val="dash"/>
          </a:ln>
        </p:spPr>
      </p:sp>
      <p:sp>
        <p:nvSpPr>
          <p:cNvPr id="7" name="Text 5"/>
          <p:cNvSpPr/>
          <p:nvPr/>
        </p:nvSpPr>
        <p:spPr>
          <a:xfrm>
            <a:off x="26892504" y="685800"/>
            <a:ext cx="2194560" cy="2194560"/>
          </a:xfrm>
          <a:prstGeom prst="rect">
            <a:avLst/>
          </a:prstGeom>
          <a:noFill/>
          <a:ln/>
        </p:spPr>
        <p:txBody>
          <a:bodyPr wrap="square" lIns="0" tIns="0" rIns="0" bIns="0" rtlCol="0" anchor="ctr"/>
          <a:lstStyle/>
          <a:p>
            <a:pPr algn="ctr" indent="0" marL="0">
              <a:buNone/>
            </a:pPr>
            <a:r>
              <a:rPr lang="en-US" sz="2200" b="1" dirty="0">
                <a:solidFill>
                  <a:srgbClr val="44514B"/>
                </a:solidFill>
                <a:latin typeface="Meiryo" pitchFamily="34" charset="0"/>
                <a:ea typeface="Meiryo" pitchFamily="34" charset="-122"/>
                <a:cs typeface="Meiryo" pitchFamily="34" charset="-120"/>
              </a:rPr>
              <a:t>QR</a:t>
            </a:r>
            <a:endParaRPr lang="en-US" sz="2200" dirty="0"/>
          </a:p>
        </p:txBody>
      </p:sp>
      <p:sp>
        <p:nvSpPr>
          <p:cNvPr id="8" name="Text 6"/>
          <p:cNvSpPr/>
          <p:nvPr/>
        </p:nvSpPr>
        <p:spPr>
          <a:xfrm>
            <a:off x="26892504" y="2971800"/>
            <a:ext cx="2194560" cy="548640"/>
          </a:xfrm>
          <a:prstGeom prst="rect">
            <a:avLst/>
          </a:prstGeom>
          <a:noFill/>
          <a:ln/>
        </p:spPr>
        <p:txBody>
          <a:bodyPr wrap="square" lIns="0" tIns="0" rIns="0" bIns="0" rtlCol="0" anchor="ctr"/>
          <a:lstStyle/>
          <a:p>
            <a:pPr algn="ctr" indent="0" marL="0">
              <a:buNone/>
            </a:pPr>
            <a:r>
              <a:rPr lang="en-US" sz="1900" b="1" dirty="0">
                <a:solidFill>
                  <a:srgbClr val="C2DACE"/>
                </a:solidFill>
                <a:latin typeface="Meiryo" pitchFamily="34" charset="0"/>
                <a:ea typeface="Meiryo" pitchFamily="34" charset="-122"/>
                <a:cs typeface="Meiryo" pitchFamily="34" charset="-120"/>
              </a:rPr>
              <a:t>実機デモ動画</a:t>
            </a:r>
            <a:endParaRPr lang="en-US" sz="1900" dirty="0"/>
          </a:p>
        </p:txBody>
      </p:sp>
      <p:sp>
        <p:nvSpPr>
          <p:cNvPr id="9" name="Shape 7"/>
          <p:cNvSpPr/>
          <p:nvPr/>
        </p:nvSpPr>
        <p:spPr>
          <a:xfrm>
            <a:off x="1188720" y="4846320"/>
            <a:ext cx="1051560" cy="1188720"/>
          </a:xfrm>
          <a:prstGeom prst="roundRect">
            <a:avLst>
              <a:gd name="adj" fmla="val 10435"/>
            </a:avLst>
          </a:prstGeom>
          <a:solidFill>
            <a:srgbClr val="1E4A38"/>
          </a:solidFill>
          <a:ln/>
        </p:spPr>
      </p:sp>
      <p:sp>
        <p:nvSpPr>
          <p:cNvPr id="10" name="Text 8"/>
          <p:cNvSpPr/>
          <p:nvPr/>
        </p:nvSpPr>
        <p:spPr>
          <a:xfrm>
            <a:off x="1188720" y="4846320"/>
            <a:ext cx="1051560" cy="1188720"/>
          </a:xfrm>
          <a:prstGeom prst="rect">
            <a:avLst/>
          </a:prstGeom>
          <a:noFill/>
          <a:ln/>
        </p:spPr>
        <p:txBody>
          <a:bodyPr wrap="square" lIns="0" tIns="0" rIns="0" bIns="0" rtlCol="0" anchor="ctr"/>
          <a:lstStyle/>
          <a:p>
            <a:pPr algn="ctr" indent="0" marL="0">
              <a:buNone/>
            </a:pPr>
            <a:r>
              <a:rPr lang="en-US" sz="2800" b="1" dirty="0">
                <a:solidFill>
                  <a:srgbClr val="FFFFFF"/>
                </a:solidFill>
                <a:latin typeface="Meiryo" pitchFamily="34" charset="0"/>
                <a:ea typeface="Meiryo" pitchFamily="34" charset="-122"/>
                <a:cs typeface="Meiryo" pitchFamily="34" charset="-120"/>
              </a:rPr>
              <a:t>1</a:t>
            </a:r>
            <a:endParaRPr lang="en-US" sz="2800" dirty="0"/>
          </a:p>
        </p:txBody>
      </p:sp>
      <p:sp>
        <p:nvSpPr>
          <p:cNvPr id="11" name="Text 9"/>
          <p:cNvSpPr/>
          <p:nvPr/>
        </p:nvSpPr>
        <p:spPr>
          <a:xfrm>
            <a:off x="2514600" y="4846320"/>
            <a:ext cx="12211812" cy="1188720"/>
          </a:xfrm>
          <a:prstGeom prst="rect">
            <a:avLst/>
          </a:prstGeom>
          <a:noFill/>
          <a:ln/>
        </p:spPr>
        <p:txBody>
          <a:bodyPr wrap="square" lIns="0" tIns="0" rIns="0" bIns="0" rtlCol="0" anchor="ctr"/>
          <a:lstStyle/>
          <a:p>
            <a:pPr indent="0" marL="0">
              <a:buNone/>
            </a:pPr>
            <a:r>
              <a:rPr lang="en-US" sz="4000" b="1" dirty="0">
                <a:solidFill>
                  <a:srgbClr val="1E4A38"/>
                </a:solidFill>
                <a:latin typeface="Meiryo" pitchFamily="34" charset="0"/>
                <a:ea typeface="Meiryo" pitchFamily="34" charset="-122"/>
                <a:cs typeface="Meiryo" pitchFamily="34" charset="-120"/>
              </a:rPr>
              <a:t>要旨</a:t>
            </a:r>
            <a:endParaRPr lang="en-US" sz="4000" dirty="0"/>
          </a:p>
        </p:txBody>
      </p:sp>
      <p:sp>
        <p:nvSpPr>
          <p:cNvPr id="12" name="Text 10"/>
          <p:cNvSpPr/>
          <p:nvPr/>
        </p:nvSpPr>
        <p:spPr>
          <a:xfrm>
            <a:off x="1188720" y="6309360"/>
            <a:ext cx="13537692" cy="3840480"/>
          </a:xfrm>
          <a:prstGeom prst="rect">
            <a:avLst/>
          </a:prstGeom>
          <a:noFill/>
          <a:ln/>
        </p:spPr>
        <p:txBody>
          <a:bodyPr wrap="square" lIns="0" tIns="0" rIns="0" bIns="0" rtlCol="0" anchor="t"/>
          <a:lstStyle/>
          <a:p>
            <a:pPr indent="0" marL="0">
              <a:lnSpc>
                <a:spcPts val="3800"/>
              </a:lnSpc>
              <a:buNone/>
            </a:pPr>
            <a:r>
              <a:rPr lang="en-US" sz="2600" dirty="0">
                <a:solidFill>
                  <a:srgbClr val="1A1A1A"/>
                </a:solidFill>
                <a:latin typeface="Meiryo" pitchFamily="34" charset="0"/>
                <a:ea typeface="Meiryo" pitchFamily="34" charset="-122"/>
                <a:cs typeface="Meiryo" pitchFamily="34" charset="-120"/>
              </a:rPr>
              <a:t>観葉植物の育成では、植物のSOSが微細な外観変化としてしか現れないため、初心者ほど異変に気づけないまま枯死させやすい。本研究では、植物を擬人化し、自らの状態を判断してユーザーに世話を要求するIoTシステム PlanterAI を開発した。状態の判定は決定論的なルールベース層に閉じ込め、大規模言語モデルには確定した状態をどう言語化するかのみを委譲することで、センサーの異常値に起因する誤った訴えを構造的に排除した。カラテアを対象に連続稼働させ、OLEDによる表情表示とLINEを介した双方向対話を実現した。</a:t>
            </a:r>
            <a:endParaRPr lang="en-US" sz="2600" dirty="0"/>
          </a:p>
        </p:txBody>
      </p:sp>
      <p:sp>
        <p:nvSpPr>
          <p:cNvPr id="13" name="Shape 11"/>
          <p:cNvSpPr/>
          <p:nvPr/>
        </p:nvSpPr>
        <p:spPr>
          <a:xfrm>
            <a:off x="1188720" y="10607040"/>
            <a:ext cx="1051560" cy="1188720"/>
          </a:xfrm>
          <a:prstGeom prst="roundRect">
            <a:avLst>
              <a:gd name="adj" fmla="val 10435"/>
            </a:avLst>
          </a:prstGeom>
          <a:solidFill>
            <a:srgbClr val="1E4A38"/>
          </a:solidFill>
          <a:ln/>
        </p:spPr>
      </p:sp>
      <p:sp>
        <p:nvSpPr>
          <p:cNvPr id="14" name="Text 12"/>
          <p:cNvSpPr/>
          <p:nvPr/>
        </p:nvSpPr>
        <p:spPr>
          <a:xfrm>
            <a:off x="1188720" y="10607040"/>
            <a:ext cx="1051560" cy="1188720"/>
          </a:xfrm>
          <a:prstGeom prst="rect">
            <a:avLst/>
          </a:prstGeom>
          <a:noFill/>
          <a:ln/>
        </p:spPr>
        <p:txBody>
          <a:bodyPr wrap="square" lIns="0" tIns="0" rIns="0" bIns="0" rtlCol="0" anchor="ctr"/>
          <a:lstStyle/>
          <a:p>
            <a:pPr algn="ctr" indent="0" marL="0">
              <a:buNone/>
            </a:pPr>
            <a:r>
              <a:rPr lang="en-US" sz="2800" b="1" dirty="0">
                <a:solidFill>
                  <a:srgbClr val="FFFFFF"/>
                </a:solidFill>
                <a:latin typeface="Meiryo" pitchFamily="34" charset="0"/>
                <a:ea typeface="Meiryo" pitchFamily="34" charset="-122"/>
                <a:cs typeface="Meiryo" pitchFamily="34" charset="-120"/>
              </a:rPr>
              <a:t>2</a:t>
            </a:r>
            <a:endParaRPr lang="en-US" sz="2800" dirty="0"/>
          </a:p>
        </p:txBody>
      </p:sp>
      <p:sp>
        <p:nvSpPr>
          <p:cNvPr id="15" name="Text 13"/>
          <p:cNvSpPr/>
          <p:nvPr/>
        </p:nvSpPr>
        <p:spPr>
          <a:xfrm>
            <a:off x="2514600" y="10607040"/>
            <a:ext cx="12211812" cy="1188720"/>
          </a:xfrm>
          <a:prstGeom prst="rect">
            <a:avLst/>
          </a:prstGeom>
          <a:noFill/>
          <a:ln/>
        </p:spPr>
        <p:txBody>
          <a:bodyPr wrap="square" lIns="0" tIns="0" rIns="0" bIns="0" rtlCol="0" anchor="ctr"/>
          <a:lstStyle/>
          <a:p>
            <a:pPr indent="0" marL="0">
              <a:buNone/>
            </a:pPr>
            <a:r>
              <a:rPr lang="en-US" sz="4000" b="1" dirty="0">
                <a:solidFill>
                  <a:srgbClr val="1E4A38"/>
                </a:solidFill>
                <a:latin typeface="Meiryo" pitchFamily="34" charset="0"/>
                <a:ea typeface="Meiryo" pitchFamily="34" charset="-122"/>
                <a:cs typeface="Meiryo" pitchFamily="34" charset="-120"/>
              </a:rPr>
              <a:t>序論</a:t>
            </a:r>
            <a:endParaRPr lang="en-US" sz="4000" dirty="0"/>
          </a:p>
        </p:txBody>
      </p:sp>
      <p:sp>
        <p:nvSpPr>
          <p:cNvPr id="16" name="Text 14"/>
          <p:cNvSpPr/>
          <p:nvPr/>
        </p:nvSpPr>
        <p:spPr>
          <a:xfrm>
            <a:off x="1188720" y="12070080"/>
            <a:ext cx="13537692" cy="8138160"/>
          </a:xfrm>
          <a:prstGeom prst="rect">
            <a:avLst/>
          </a:prstGeom>
          <a:noFill/>
          <a:ln/>
        </p:spPr>
        <p:txBody>
          <a:bodyPr wrap="square" lIns="0" tIns="0" rIns="0" bIns="0" rtlCol="0" anchor="t"/>
          <a:lstStyle/>
          <a:p>
            <a:pPr indent="0" marL="0">
              <a:lnSpc>
                <a:spcPts val="3800"/>
              </a:lnSpc>
              <a:buNone/>
            </a:pPr>
            <a:r>
              <a:rPr lang="en-US" sz="2600" dirty="0">
                <a:solidFill>
                  <a:srgbClr val="1A1A1A"/>
                </a:solidFill>
                <a:latin typeface="Meiryo" pitchFamily="34" charset="0"/>
                <a:ea typeface="Meiryo" pitchFamily="34" charset="-122"/>
                <a:cs typeface="Meiryo" pitchFamily="34" charset="-120"/>
              </a:rPr>
              <a:t>コロナ禍による在宅時間の増加を背景に観葉植物への関心が高まり、総務省家計調査における「園芸用植物」への一世帯当たり年間支出額は2020年から2022年にかけて増加した[1]。しかし行動制限の解除後は減少に転じ、2024年は2,922円と、ピークの2022年（3,475円）から約16%減少している（図1）。在宅時間が減った多忙な生活のなかで環境管理を継続することの困難さが、その背景にあると考えられる。</a:t>
            </a:r>
            <a:endParaRPr lang="en-US" sz="2600" dirty="0"/>
          </a:p>
          <a:p>
            <a:pPr indent="0" marL="0">
              <a:lnSpc>
                <a:spcPts val="3800"/>
              </a:lnSpc>
              <a:buNone/>
            </a:pPr>
            <a:r>
              <a:rPr lang="en-US" sz="2600" dirty="0">
                <a:solidFill>
                  <a:srgbClr val="1A1A1A"/>
                </a:solidFill>
                <a:latin typeface="Meiryo" pitchFamily="34" charset="0"/>
                <a:ea typeface="Meiryo" pitchFamily="34" charset="-122"/>
                <a:cs typeface="Meiryo" pitchFamily="34" charset="-120"/>
              </a:rPr>
              <a:t>植物は動物と異なり音や動作でSOSを発しないため、水分や日照の不足は葉の変色や萎れとして現れた時点で既に手遅れであることが多い。この「沈黙死」が挫折感を生み、育成からの離脱を招く。</a:t>
            </a:r>
            <a:endParaRPr lang="en-US" sz="2600" dirty="0"/>
          </a:p>
          <a:p>
            <a:pPr indent="0" marL="0">
              <a:lnSpc>
                <a:spcPts val="3800"/>
              </a:lnSpc>
              <a:buNone/>
            </a:pPr>
            <a:r>
              <a:rPr lang="en-US" sz="2600" dirty="0">
                <a:solidFill>
                  <a:srgbClr val="1A1A1A"/>
                </a:solidFill>
                <a:latin typeface="Meiryo" pitchFamily="34" charset="0"/>
                <a:ea typeface="Meiryo" pitchFamily="34" charset="-122"/>
                <a:cs typeface="Meiryo" pitchFamily="34" charset="-120"/>
              </a:rPr>
              <a:t>課題を具体化するため、Webアンケートを実施した（2026年7月、有効回答83名）。障壁として「旅行・外出時の世話」47%、「日当たり・置き場所の管理」46%、「異変に気づけず枯らす」42%が上位を占め、初心者が想定しがちな「水やりのタイミング」33%を上回った（図2）。</a:t>
            </a:r>
            <a:endParaRPr lang="en-US" sz="2600" dirty="0"/>
          </a:p>
          <a:p>
            <a:pPr indent="0" marL="0">
              <a:lnSpc>
                <a:spcPts val="3800"/>
              </a:lnSpc>
              <a:buNone/>
            </a:pPr>
            <a:r>
              <a:rPr lang="en-US" sz="2600" dirty="0">
                <a:solidFill>
                  <a:srgbClr val="1A1A1A"/>
                </a:solidFill>
                <a:latin typeface="Meiryo" pitchFamily="34" charset="0"/>
                <a:ea typeface="Meiryo" pitchFamily="34" charset="-122"/>
                <a:cs typeface="Meiryo" pitchFamily="34" charset="-120"/>
              </a:rPr>
              <a:t>既存製品はこれらを解決していない。Lua は前面ディスプレイに表情を表示し[2]、Xiaomi Smart Flower Pot は計測値を専用アプリで可視化する[3]。いずれも人間が植物を一方的に管理する構図であり、装置側から能動的に要求を発する機構を持たない（表1）。</a:t>
            </a:r>
            <a:endParaRPr lang="en-US" sz="2600" dirty="0"/>
          </a:p>
        </p:txBody>
      </p:sp>
      <p:sp>
        <p:nvSpPr>
          <p:cNvPr id="17" name="Shape 15"/>
          <p:cNvSpPr/>
          <p:nvPr/>
        </p:nvSpPr>
        <p:spPr>
          <a:xfrm>
            <a:off x="1188720" y="20665440"/>
            <a:ext cx="13537692" cy="5486400"/>
          </a:xfrm>
          <a:prstGeom prst="roundRect">
            <a:avLst>
              <a:gd name="adj" fmla="val 3000"/>
            </a:avLst>
          </a:prstGeom>
          <a:solidFill>
            <a:srgbClr val="FFFFFF"/>
          </a:solidFill>
          <a:ln w="19050">
            <a:solidFill>
              <a:srgbClr val="BDCEC5"/>
            </a:solidFill>
            <a:prstDash val="solid"/>
          </a:ln>
        </p:spPr>
      </p:sp>
      <p:graphicFrame>
        <p:nvGraphicFramePr>
          <p:cNvPr id="18" name="Chart 0" descr=""/>
          <p:cNvGraphicFramePr/>
          <p:nvPr/>
        </p:nvGraphicFramePr>
        <p:xfrm>
          <a:off x="1463040" y="20985480"/>
          <a:ext cx="12897612" cy="4800600"/>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p:nvPr/>
        </p:nvSpPr>
        <p:spPr>
          <a:xfrm>
            <a:off x="9880092" y="21122640"/>
            <a:ext cx="4480560" cy="548640"/>
          </a:xfrm>
          <a:prstGeom prst="rect">
            <a:avLst/>
          </a:prstGeom>
          <a:noFill/>
          <a:ln/>
        </p:spPr>
        <p:txBody>
          <a:bodyPr wrap="square" lIns="0" tIns="0" rIns="0" bIns="0" rtlCol="0" anchor="ctr"/>
          <a:lstStyle/>
          <a:p>
            <a:pPr algn="r" indent="0" marL="0">
              <a:buNone/>
            </a:pPr>
            <a:r>
              <a:rPr lang="en-US" sz="2000" b="1" dirty="0">
                <a:solidFill>
                  <a:srgbClr val="9C6600"/>
                </a:solidFill>
                <a:latin typeface="Meiryo" pitchFamily="34" charset="0"/>
                <a:ea typeface="Meiryo" pitchFamily="34" charset="-122"/>
                <a:cs typeface="Meiryo" pitchFamily="34" charset="-120"/>
              </a:rPr>
              <a:t>2022年をピークに減少</a:t>
            </a:r>
            <a:endParaRPr lang="en-US" sz="2000" dirty="0"/>
          </a:p>
        </p:txBody>
      </p:sp>
      <p:sp>
        <p:nvSpPr>
          <p:cNvPr id="20" name="Text 17"/>
          <p:cNvSpPr/>
          <p:nvPr/>
        </p:nvSpPr>
        <p:spPr>
          <a:xfrm>
            <a:off x="1188720" y="26334720"/>
            <a:ext cx="13537692" cy="640080"/>
          </a:xfrm>
          <a:prstGeom prst="rect">
            <a:avLst/>
          </a:prstGeom>
          <a:noFill/>
          <a:ln/>
        </p:spPr>
        <p:txBody>
          <a:bodyPr wrap="square" lIns="0" tIns="0" rIns="0" bIns="0" rtlCol="0" anchor="ctr"/>
          <a:lstStyle/>
          <a:p>
            <a:pPr algn="ctr" indent="0" marL="0">
              <a:buNone/>
            </a:pPr>
            <a:r>
              <a:rPr lang="en-US" sz="2300" b="1" dirty="0">
                <a:solidFill>
                  <a:srgbClr val="44514B"/>
                </a:solidFill>
                <a:latin typeface="Meiryo" pitchFamily="34" charset="0"/>
                <a:ea typeface="Meiryo" pitchFamily="34" charset="-122"/>
                <a:cs typeface="Meiryo" pitchFamily="34" charset="-120"/>
              </a:rPr>
              <a:t>図1　園芸用植物への一世帯当たり年間支出額［円］（総務省家計調査より作成）</a:t>
            </a:r>
            <a:endParaRPr lang="en-US" sz="2300" dirty="0"/>
          </a:p>
        </p:txBody>
      </p:sp>
      <p:sp>
        <p:nvSpPr>
          <p:cNvPr id="21" name="Shape 18"/>
          <p:cNvSpPr/>
          <p:nvPr/>
        </p:nvSpPr>
        <p:spPr>
          <a:xfrm>
            <a:off x="1188720" y="27432000"/>
            <a:ext cx="13537692" cy="5852160"/>
          </a:xfrm>
          <a:prstGeom prst="roundRect">
            <a:avLst>
              <a:gd name="adj" fmla="val 2813"/>
            </a:avLst>
          </a:prstGeom>
          <a:solidFill>
            <a:srgbClr val="FFFFFF"/>
          </a:solidFill>
          <a:ln w="19050">
            <a:solidFill>
              <a:srgbClr val="BDCEC5"/>
            </a:solidFill>
            <a:prstDash val="solid"/>
          </a:ln>
        </p:spPr>
      </p:sp>
      <p:graphicFrame>
        <p:nvGraphicFramePr>
          <p:cNvPr id="22" name="Chart 1" descr=""/>
          <p:cNvGraphicFramePr/>
          <p:nvPr/>
        </p:nvGraphicFramePr>
        <p:xfrm>
          <a:off x="1463040" y="27752040"/>
          <a:ext cx="12897612" cy="5166360"/>
        </p:xfrm>
        <a:graphic xmlns:a="http://schemas.openxmlformats.org/drawingml/2006/main">
          <a:graphicData uri="http://schemas.openxmlformats.org/drawingml/2006/chart">
            <c:chart xmlns:c="http://schemas.openxmlformats.org/drawingml/2006/chart" r:id="rId2"/>
          </a:graphicData>
        </a:graphic>
      </p:graphicFrame>
      <p:sp>
        <p:nvSpPr>
          <p:cNvPr id="23" name="Text 19"/>
          <p:cNvSpPr/>
          <p:nvPr/>
        </p:nvSpPr>
        <p:spPr>
          <a:xfrm>
            <a:off x="1188720" y="33467040"/>
            <a:ext cx="13537692" cy="640080"/>
          </a:xfrm>
          <a:prstGeom prst="rect">
            <a:avLst/>
          </a:prstGeom>
          <a:noFill/>
          <a:ln/>
        </p:spPr>
        <p:txBody>
          <a:bodyPr wrap="square" lIns="0" tIns="0" rIns="0" bIns="0" rtlCol="0" anchor="ctr"/>
          <a:lstStyle/>
          <a:p>
            <a:pPr algn="ctr" indent="0" marL="0">
              <a:buNone/>
            </a:pPr>
            <a:r>
              <a:rPr lang="en-US" sz="2300" b="1" dirty="0">
                <a:solidFill>
                  <a:srgbClr val="44514B"/>
                </a:solidFill>
                <a:latin typeface="Meiryo" pitchFamily="34" charset="0"/>
                <a:ea typeface="Meiryo" pitchFamily="34" charset="-122"/>
                <a:cs typeface="Meiryo" pitchFamily="34" charset="-120"/>
              </a:rPr>
              <a:t>図2　育成上の障壁（複数選択・N=83・単位：人）</a:t>
            </a:r>
            <a:endParaRPr lang="en-US" sz="23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1188720" y="34564320"/>
          <a:ext cx="13537692" cy="4572000"/>
        </p:xfrm>
        <a:graphic>
          <a:graphicData uri="http://schemas.openxmlformats.org/drawingml/2006/table">
            <a:tbl>
              <a:tblPr/>
              <a:tblGrid>
                <a:gridCol w="5144323"/>
                <a:gridCol w="4061308"/>
                <a:gridCol w="4332061"/>
              </a:tblGrid>
              <a:tr h="914400">
                <a:tc>
                  <a:txBody>
                    <a:bodyPr/>
                    <a:lstStyle/>
                    <a:p>
                      <a:pPr algn="ctr" indent="0" marL="0">
                        <a:buNone/>
                      </a:pPr>
                      <a:r>
                        <a:rPr lang="en-US" sz="2400" b="1" dirty="0">
                          <a:solidFill>
                            <a:srgbClr val="FFFFFF"/>
                          </a:solidFill>
                          <a:latin typeface="Meiryo" pitchFamily="34" charset="0"/>
                          <a:ea typeface="Meiryo" pitchFamily="34" charset="-122"/>
                          <a:cs typeface="Meiryo" pitchFamily="34" charset="-120"/>
                        </a:rPr>
                        <a:t>観点</a:t>
                      </a:r>
                      <a:endParaRPr lang="en-US" sz="2400" dirty="0">
                        <a:latin typeface="Meiryo" charset="0"/>
                        <a:ea typeface="Meiryo" charset="0"/>
                        <a:cs typeface="Meiryo" charset="0"/>
                      </a:endParaRPr>
                    </a:p>
                  </a:txBody>
                  <a:tcPr marL="91440" marR="91440" marT="45720" marB="45720" anchor="ctr">
                    <a:lnL w="19050" cap="flat" cmpd="sng" algn="ctr">
                      <a:solidFill>
                        <a:srgbClr val="BDCEC5"/>
                      </a:solidFill>
                      <a:prstDash val="solid"/>
                      <a:round/>
                      <a:headEnd type="none" w="med" len="med"/>
                      <a:tailEnd type="none" w="med" len="med"/>
                    </a:lnL>
                    <a:lnR w="19050" cap="flat" cmpd="sng" algn="ctr">
                      <a:solidFill>
                        <a:srgbClr val="BDCEC5"/>
                      </a:solidFill>
                      <a:prstDash val="solid"/>
                      <a:round/>
                      <a:headEnd type="none" w="med" len="med"/>
                      <a:tailEnd type="none" w="med" len="med"/>
                    </a:lnR>
                    <a:lnT w="19050" cap="flat" cmpd="sng" algn="ctr">
                      <a:solidFill>
                        <a:srgbClr val="BDCEC5"/>
                      </a:solidFill>
                      <a:prstDash val="solid"/>
                      <a:round/>
                      <a:headEnd type="none" w="med" len="med"/>
                      <a:tailEnd type="none" w="med" len="med"/>
                    </a:lnT>
                    <a:lnB w="19050" cap="flat" cmpd="sng" algn="ctr">
                      <a:solidFill>
                        <a:srgbClr val="BDCEC5"/>
                      </a:solidFill>
                      <a:prstDash val="solid"/>
                      <a:round/>
                      <a:headEnd type="none" w="med" len="med"/>
                      <a:tailEnd type="none" w="med" len="med"/>
                    </a:lnB>
                    <a:solidFill>
                      <a:srgbClr val="1E4A38"/>
                    </a:solidFill>
                  </a:tcPr>
                </a:tc>
                <a:tc>
                  <a:txBody>
                    <a:bodyPr/>
                    <a:lstStyle/>
                    <a:p>
                      <a:pPr algn="ctr" indent="0" marL="0">
                        <a:buNone/>
                      </a:pPr>
                      <a:r>
                        <a:rPr lang="en-US" sz="2400" b="1" dirty="0">
                          <a:solidFill>
                            <a:srgbClr val="1A1A1A"/>
                          </a:solidFill>
                          <a:latin typeface="Meiryo" pitchFamily="34" charset="0"/>
                          <a:ea typeface="Meiryo" pitchFamily="34" charset="-122"/>
                          <a:cs typeface="Meiryo" pitchFamily="34" charset="-120"/>
                        </a:rPr>
                        <a:t>本研究</a:t>
                      </a:r>
                      <a:endParaRPr lang="en-US" sz="2400" dirty="0">
                        <a:latin typeface="Meiryo" charset="0"/>
                        <a:ea typeface="Meiryo" charset="0"/>
                        <a:cs typeface="Meiryo" charset="0"/>
                      </a:endParaRPr>
                    </a:p>
                  </a:txBody>
                  <a:tcPr marL="91440" marR="91440" marT="45720" marB="45720" anchor="ctr">
                    <a:lnL w="19050" cap="flat" cmpd="sng" algn="ctr">
                      <a:solidFill>
                        <a:srgbClr val="BDCEC5"/>
                      </a:solidFill>
                      <a:prstDash val="solid"/>
                      <a:round/>
                      <a:headEnd type="none" w="med" len="med"/>
                      <a:tailEnd type="none" w="med" len="med"/>
                    </a:lnL>
                    <a:lnR w="19050" cap="flat" cmpd="sng" algn="ctr">
                      <a:solidFill>
                        <a:srgbClr val="BDCEC5"/>
                      </a:solidFill>
                      <a:prstDash val="solid"/>
                      <a:round/>
                      <a:headEnd type="none" w="med" len="med"/>
                      <a:tailEnd type="none" w="med" len="med"/>
                    </a:lnR>
                    <a:lnT w="19050" cap="flat" cmpd="sng" algn="ctr">
                      <a:solidFill>
                        <a:srgbClr val="BDCEC5"/>
                      </a:solidFill>
                      <a:prstDash val="solid"/>
                      <a:round/>
                      <a:headEnd type="none" w="med" len="med"/>
                      <a:tailEnd type="none" w="med" len="med"/>
                    </a:lnT>
                    <a:lnB w="19050" cap="flat" cmpd="sng" algn="ctr">
                      <a:solidFill>
                        <a:srgbClr val="BDCEC5"/>
                      </a:solidFill>
                      <a:prstDash val="solid"/>
                      <a:round/>
                      <a:headEnd type="none" w="med" len="med"/>
                      <a:tailEnd type="none" w="med" len="med"/>
                    </a:lnB>
                    <a:solidFill>
                      <a:srgbClr val="F6AA00"/>
                    </a:solidFill>
                  </a:tcPr>
                </a:tc>
                <a:tc>
                  <a:txBody>
                    <a:bodyPr/>
                    <a:lstStyle/>
                    <a:p>
                      <a:pPr algn="ctr" indent="0" marL="0">
                        <a:buNone/>
                      </a:pPr>
                      <a:r>
                        <a:rPr lang="en-US" sz="2400" b="1" dirty="0">
                          <a:solidFill>
                            <a:srgbClr val="FFFFFF"/>
                          </a:solidFill>
                          <a:latin typeface="Meiryo" pitchFamily="34" charset="0"/>
                          <a:ea typeface="Meiryo" pitchFamily="34" charset="-122"/>
                          <a:cs typeface="Meiryo" pitchFamily="34" charset="-120"/>
                        </a:rPr>
                        <a:t>既存製品</a:t>
                      </a:r>
                      <a:endParaRPr lang="en-US" sz="2400" dirty="0">
                        <a:latin typeface="Meiryo" charset="0"/>
                        <a:ea typeface="Meiryo" charset="0"/>
                        <a:cs typeface="Meiryo" charset="0"/>
                      </a:endParaRPr>
                    </a:p>
                  </a:txBody>
                  <a:tcPr marL="91440" marR="91440" marT="45720" marB="45720" anchor="ctr">
                    <a:lnL w="19050" cap="flat" cmpd="sng" algn="ctr">
                      <a:solidFill>
                        <a:srgbClr val="BDCEC5"/>
                      </a:solidFill>
                      <a:prstDash val="solid"/>
                      <a:round/>
                      <a:headEnd type="none" w="med" len="med"/>
                      <a:tailEnd type="none" w="med" len="med"/>
                    </a:lnL>
                    <a:lnR w="19050" cap="flat" cmpd="sng" algn="ctr">
                      <a:solidFill>
                        <a:srgbClr val="BDCEC5"/>
                      </a:solidFill>
                      <a:prstDash val="solid"/>
                      <a:round/>
                      <a:headEnd type="none" w="med" len="med"/>
                      <a:tailEnd type="none" w="med" len="med"/>
                    </a:lnR>
                    <a:lnT w="19050" cap="flat" cmpd="sng" algn="ctr">
                      <a:solidFill>
                        <a:srgbClr val="BDCEC5"/>
                      </a:solidFill>
                      <a:prstDash val="solid"/>
                      <a:round/>
                      <a:headEnd type="none" w="med" len="med"/>
                      <a:tailEnd type="none" w="med" len="med"/>
                    </a:lnT>
                    <a:lnB w="19050" cap="flat" cmpd="sng" algn="ctr">
                      <a:solidFill>
                        <a:srgbClr val="BDCEC5"/>
                      </a:solidFill>
                      <a:prstDash val="solid"/>
                      <a:round/>
                      <a:headEnd type="none" w="med" len="med"/>
                      <a:tailEnd type="none" w="med" len="med"/>
                    </a:lnB>
                    <a:solidFill>
                      <a:srgbClr val="1E4A38"/>
                    </a:solidFill>
                  </a:tcPr>
                </a:tc>
              </a:tr>
              <a:tr h="914400">
                <a:tc>
                  <a:txBody>
                    <a:bodyPr/>
                    <a:lstStyle/>
                    <a:p>
                      <a:pPr algn="ctr" indent="0" marL="0">
                        <a:buNone/>
                      </a:pPr>
                      <a:r>
                        <a:rPr lang="en-US" sz="2400" dirty="0">
                          <a:solidFill>
                            <a:srgbClr val="1A1A1A"/>
                          </a:solidFill>
                          <a:latin typeface="Meiryo" pitchFamily="34" charset="0"/>
                          <a:ea typeface="Meiryo" pitchFamily="34" charset="-122"/>
                          <a:cs typeface="Meiryo" pitchFamily="34" charset="-120"/>
                        </a:rPr>
                        <a:t>装置起点の発話</a:t>
                      </a:r>
                      <a:endParaRPr lang="en-US" sz="2400" dirty="0">
                        <a:latin typeface="Meiryo" charset="0"/>
                        <a:ea typeface="Meiryo" charset="0"/>
                        <a:cs typeface="Meiryo" charset="0"/>
                      </a:endParaRPr>
                    </a:p>
                  </a:txBody>
                  <a:tcPr marL="91440" marR="91440" marT="45720" marB="45720" anchor="ctr">
                    <a:lnL w="19050" cap="flat" cmpd="sng" algn="ctr">
                      <a:solidFill>
                        <a:srgbClr val="BDCEC5"/>
                      </a:solidFill>
                      <a:prstDash val="solid"/>
                      <a:round/>
                      <a:headEnd type="none" w="med" len="med"/>
                      <a:tailEnd type="none" w="med" len="med"/>
                    </a:lnL>
                    <a:lnR w="19050" cap="flat" cmpd="sng" algn="ctr">
                      <a:solidFill>
                        <a:srgbClr val="BDCEC5"/>
                      </a:solidFill>
                      <a:prstDash val="solid"/>
                      <a:round/>
                      <a:headEnd type="none" w="med" len="med"/>
                      <a:tailEnd type="none" w="med" len="med"/>
                    </a:lnR>
                    <a:lnT w="19050" cap="flat" cmpd="sng" algn="ctr">
                      <a:solidFill>
                        <a:srgbClr val="BDCEC5"/>
                      </a:solidFill>
                      <a:prstDash val="solid"/>
                      <a:round/>
                      <a:headEnd type="none" w="med" len="med"/>
                      <a:tailEnd type="none" w="med" len="med"/>
                    </a:lnT>
                    <a:lnB w="19050" cap="flat" cmpd="sng" algn="ctr">
                      <a:solidFill>
                        <a:srgbClr val="BDCEC5"/>
                      </a:solidFill>
                      <a:prstDash val="solid"/>
                      <a:round/>
                      <a:headEnd type="none" w="med" len="med"/>
                      <a:tailEnd type="none" w="med" len="med"/>
                    </a:lnB>
                    <a:solidFill>
                      <a:srgbClr val="FFFFFF"/>
                    </a:solidFill>
                  </a:tcPr>
                </a:tc>
                <a:tc>
                  <a:txBody>
                    <a:bodyPr/>
                    <a:lstStyle/>
                    <a:p>
                      <a:pPr algn="ctr" indent="0" marL="0">
                        <a:buNone/>
                      </a:pPr>
                      <a:r>
                        <a:rPr lang="en-US" sz="2400" dirty="0">
                          <a:solidFill>
                            <a:srgbClr val="1A1A1A"/>
                          </a:solidFill>
                          <a:latin typeface="Meiryo" pitchFamily="34" charset="0"/>
                          <a:ea typeface="Meiryo" pitchFamily="34" charset="-122"/>
                          <a:cs typeface="Meiryo" pitchFamily="34" charset="-120"/>
                        </a:rPr>
                        <a:t>あり</a:t>
                      </a:r>
                      <a:endParaRPr lang="en-US" sz="2400" dirty="0">
                        <a:latin typeface="Meiryo" charset="0"/>
                        <a:ea typeface="Meiryo" charset="0"/>
                        <a:cs typeface="Meiryo" charset="0"/>
                      </a:endParaRPr>
                    </a:p>
                  </a:txBody>
                  <a:tcPr marL="91440" marR="91440" marT="45720" marB="45720" anchor="ctr">
                    <a:lnL w="19050" cap="flat" cmpd="sng" algn="ctr">
                      <a:solidFill>
                        <a:srgbClr val="BDCEC5"/>
                      </a:solidFill>
                      <a:prstDash val="solid"/>
                      <a:round/>
                      <a:headEnd type="none" w="med" len="med"/>
                      <a:tailEnd type="none" w="med" len="med"/>
                    </a:lnL>
                    <a:lnR w="19050" cap="flat" cmpd="sng" algn="ctr">
                      <a:solidFill>
                        <a:srgbClr val="BDCEC5"/>
                      </a:solidFill>
                      <a:prstDash val="solid"/>
                      <a:round/>
                      <a:headEnd type="none" w="med" len="med"/>
                      <a:tailEnd type="none" w="med" len="med"/>
                    </a:lnR>
                    <a:lnT w="19050" cap="flat" cmpd="sng" algn="ctr">
                      <a:solidFill>
                        <a:srgbClr val="BDCEC5"/>
                      </a:solidFill>
                      <a:prstDash val="solid"/>
                      <a:round/>
                      <a:headEnd type="none" w="med" len="med"/>
                      <a:tailEnd type="none" w="med" len="med"/>
                    </a:lnT>
                    <a:lnB w="19050" cap="flat" cmpd="sng" algn="ctr">
                      <a:solidFill>
                        <a:srgbClr val="BDCEC5"/>
                      </a:solidFill>
                      <a:prstDash val="solid"/>
                      <a:round/>
                      <a:headEnd type="none" w="med" len="med"/>
                      <a:tailEnd type="none" w="med" len="med"/>
                    </a:lnB>
                    <a:solidFill>
                      <a:srgbClr val="FFFFFF"/>
                    </a:solidFill>
                  </a:tcPr>
                </a:tc>
                <a:tc>
                  <a:txBody>
                    <a:bodyPr/>
                    <a:lstStyle/>
                    <a:p>
                      <a:pPr algn="ctr" indent="0" marL="0">
                        <a:buNone/>
                      </a:pPr>
                      <a:r>
                        <a:rPr lang="en-US" sz="2400" dirty="0">
                          <a:solidFill>
                            <a:srgbClr val="1A1A1A"/>
                          </a:solidFill>
                          <a:latin typeface="Meiryo" pitchFamily="34" charset="0"/>
                          <a:ea typeface="Meiryo" pitchFamily="34" charset="-122"/>
                          <a:cs typeface="Meiryo" pitchFamily="34" charset="-120"/>
                        </a:rPr>
                        <a:t>なし</a:t>
                      </a:r>
                      <a:endParaRPr lang="en-US" sz="2400" dirty="0">
                        <a:latin typeface="Meiryo" charset="0"/>
                        <a:ea typeface="Meiryo" charset="0"/>
                        <a:cs typeface="Meiryo" charset="0"/>
                      </a:endParaRPr>
                    </a:p>
                  </a:txBody>
                  <a:tcPr marL="91440" marR="91440" marT="45720" marB="45720" anchor="ctr">
                    <a:lnL w="19050" cap="flat" cmpd="sng" algn="ctr">
                      <a:solidFill>
                        <a:srgbClr val="BDCEC5"/>
                      </a:solidFill>
                      <a:prstDash val="solid"/>
                      <a:round/>
                      <a:headEnd type="none" w="med" len="med"/>
                      <a:tailEnd type="none" w="med" len="med"/>
                    </a:lnL>
                    <a:lnR w="19050" cap="flat" cmpd="sng" algn="ctr">
                      <a:solidFill>
                        <a:srgbClr val="BDCEC5"/>
                      </a:solidFill>
                      <a:prstDash val="solid"/>
                      <a:round/>
                      <a:headEnd type="none" w="med" len="med"/>
                      <a:tailEnd type="none" w="med" len="med"/>
                    </a:lnR>
                    <a:lnT w="19050" cap="flat" cmpd="sng" algn="ctr">
                      <a:solidFill>
                        <a:srgbClr val="BDCEC5"/>
                      </a:solidFill>
                      <a:prstDash val="solid"/>
                      <a:round/>
                      <a:headEnd type="none" w="med" len="med"/>
                      <a:tailEnd type="none" w="med" len="med"/>
                    </a:lnT>
                    <a:lnB w="19050" cap="flat" cmpd="sng" algn="ctr">
                      <a:solidFill>
                        <a:srgbClr val="BDCEC5"/>
                      </a:solidFill>
                      <a:prstDash val="solid"/>
                      <a:round/>
                      <a:headEnd type="none" w="med" len="med"/>
                      <a:tailEnd type="none" w="med" len="med"/>
                    </a:lnB>
                    <a:solidFill>
                      <a:srgbClr val="FFFFFF"/>
                    </a:solidFill>
                  </a:tcPr>
                </a:tc>
              </a:tr>
              <a:tr h="914400">
                <a:tc>
                  <a:txBody>
                    <a:bodyPr/>
                    <a:lstStyle/>
                    <a:p>
                      <a:pPr algn="ctr" indent="0" marL="0">
                        <a:buNone/>
                      </a:pPr>
                      <a:r>
                        <a:rPr lang="en-US" sz="2400" dirty="0">
                          <a:solidFill>
                            <a:srgbClr val="1A1A1A"/>
                          </a:solidFill>
                          <a:latin typeface="Meiryo" pitchFamily="34" charset="0"/>
                          <a:ea typeface="Meiryo" pitchFamily="34" charset="-122"/>
                          <a:cs typeface="Meiryo" pitchFamily="34" charset="-120"/>
                        </a:rPr>
                        <a:t>実在植物との連動</a:t>
                      </a:r>
                      <a:endParaRPr lang="en-US" sz="2400" dirty="0">
                        <a:latin typeface="Meiryo" charset="0"/>
                        <a:ea typeface="Meiryo" charset="0"/>
                        <a:cs typeface="Meiryo" charset="0"/>
                      </a:endParaRPr>
                    </a:p>
                  </a:txBody>
                  <a:tcPr marL="91440" marR="91440" marT="45720" marB="45720" anchor="ctr">
                    <a:lnL w="19050" cap="flat" cmpd="sng" algn="ctr">
                      <a:solidFill>
                        <a:srgbClr val="BDCEC5"/>
                      </a:solidFill>
                      <a:prstDash val="solid"/>
                      <a:round/>
                      <a:headEnd type="none" w="med" len="med"/>
                      <a:tailEnd type="none" w="med" len="med"/>
                    </a:lnL>
                    <a:lnR w="19050" cap="flat" cmpd="sng" algn="ctr">
                      <a:solidFill>
                        <a:srgbClr val="BDCEC5"/>
                      </a:solidFill>
                      <a:prstDash val="solid"/>
                      <a:round/>
                      <a:headEnd type="none" w="med" len="med"/>
                      <a:tailEnd type="none" w="med" len="med"/>
                    </a:lnR>
                    <a:lnT w="19050" cap="flat" cmpd="sng" algn="ctr">
                      <a:solidFill>
                        <a:srgbClr val="BDCEC5"/>
                      </a:solidFill>
                      <a:prstDash val="solid"/>
                      <a:round/>
                      <a:headEnd type="none" w="med" len="med"/>
                      <a:tailEnd type="none" w="med" len="med"/>
                    </a:lnT>
                    <a:lnB w="19050" cap="flat" cmpd="sng" algn="ctr">
                      <a:solidFill>
                        <a:srgbClr val="BDCEC5"/>
                      </a:solidFill>
                      <a:prstDash val="solid"/>
                      <a:round/>
                      <a:headEnd type="none" w="med" len="med"/>
                      <a:tailEnd type="none" w="med" len="med"/>
                    </a:lnB>
                    <a:solidFill>
                      <a:srgbClr val="FFFFFF"/>
                    </a:solidFill>
                  </a:tcPr>
                </a:tc>
                <a:tc>
                  <a:txBody>
                    <a:bodyPr/>
                    <a:lstStyle/>
                    <a:p>
                      <a:pPr algn="ctr" indent="0" marL="0">
                        <a:buNone/>
                      </a:pPr>
                      <a:r>
                        <a:rPr lang="en-US" sz="2400" dirty="0">
                          <a:solidFill>
                            <a:srgbClr val="1A1A1A"/>
                          </a:solidFill>
                          <a:latin typeface="Meiryo" pitchFamily="34" charset="0"/>
                          <a:ea typeface="Meiryo" pitchFamily="34" charset="-122"/>
                          <a:cs typeface="Meiryo" pitchFamily="34" charset="-120"/>
                        </a:rPr>
                        <a:t>あり</a:t>
                      </a:r>
                      <a:endParaRPr lang="en-US" sz="2400" dirty="0">
                        <a:latin typeface="Meiryo" charset="0"/>
                        <a:ea typeface="Meiryo" charset="0"/>
                        <a:cs typeface="Meiryo" charset="0"/>
                      </a:endParaRPr>
                    </a:p>
                  </a:txBody>
                  <a:tcPr marL="91440" marR="91440" marT="45720" marB="45720" anchor="ctr">
                    <a:lnL w="19050" cap="flat" cmpd="sng" algn="ctr">
                      <a:solidFill>
                        <a:srgbClr val="BDCEC5"/>
                      </a:solidFill>
                      <a:prstDash val="solid"/>
                      <a:round/>
                      <a:headEnd type="none" w="med" len="med"/>
                      <a:tailEnd type="none" w="med" len="med"/>
                    </a:lnL>
                    <a:lnR w="19050" cap="flat" cmpd="sng" algn="ctr">
                      <a:solidFill>
                        <a:srgbClr val="BDCEC5"/>
                      </a:solidFill>
                      <a:prstDash val="solid"/>
                      <a:round/>
                      <a:headEnd type="none" w="med" len="med"/>
                      <a:tailEnd type="none" w="med" len="med"/>
                    </a:lnR>
                    <a:lnT w="19050" cap="flat" cmpd="sng" algn="ctr">
                      <a:solidFill>
                        <a:srgbClr val="BDCEC5"/>
                      </a:solidFill>
                      <a:prstDash val="solid"/>
                      <a:round/>
                      <a:headEnd type="none" w="med" len="med"/>
                      <a:tailEnd type="none" w="med" len="med"/>
                    </a:lnT>
                    <a:lnB w="19050" cap="flat" cmpd="sng" algn="ctr">
                      <a:solidFill>
                        <a:srgbClr val="BDCEC5"/>
                      </a:solidFill>
                      <a:prstDash val="solid"/>
                      <a:round/>
                      <a:headEnd type="none" w="med" len="med"/>
                      <a:tailEnd type="none" w="med" len="med"/>
                    </a:lnB>
                    <a:solidFill>
                      <a:srgbClr val="FFFFFF"/>
                    </a:solidFill>
                  </a:tcPr>
                </a:tc>
                <a:tc>
                  <a:txBody>
                    <a:bodyPr/>
                    <a:lstStyle/>
                    <a:p>
                      <a:pPr algn="ctr" indent="0" marL="0">
                        <a:buNone/>
                      </a:pPr>
                      <a:r>
                        <a:rPr lang="en-US" sz="2400" dirty="0">
                          <a:solidFill>
                            <a:srgbClr val="1A1A1A"/>
                          </a:solidFill>
                          <a:latin typeface="Meiryo" pitchFamily="34" charset="0"/>
                          <a:ea typeface="Meiryo" pitchFamily="34" charset="-122"/>
                          <a:cs typeface="Meiryo" pitchFamily="34" charset="-120"/>
                        </a:rPr>
                        <a:t>あり</a:t>
                      </a:r>
                      <a:endParaRPr lang="en-US" sz="2400" dirty="0">
                        <a:latin typeface="Meiryo" charset="0"/>
                        <a:ea typeface="Meiryo" charset="0"/>
                        <a:cs typeface="Meiryo" charset="0"/>
                      </a:endParaRPr>
                    </a:p>
                  </a:txBody>
                  <a:tcPr marL="91440" marR="91440" marT="45720" marB="45720" anchor="ctr">
                    <a:lnL w="19050" cap="flat" cmpd="sng" algn="ctr">
                      <a:solidFill>
                        <a:srgbClr val="BDCEC5"/>
                      </a:solidFill>
                      <a:prstDash val="solid"/>
                      <a:round/>
                      <a:headEnd type="none" w="med" len="med"/>
                      <a:tailEnd type="none" w="med" len="med"/>
                    </a:lnL>
                    <a:lnR w="19050" cap="flat" cmpd="sng" algn="ctr">
                      <a:solidFill>
                        <a:srgbClr val="BDCEC5"/>
                      </a:solidFill>
                      <a:prstDash val="solid"/>
                      <a:round/>
                      <a:headEnd type="none" w="med" len="med"/>
                      <a:tailEnd type="none" w="med" len="med"/>
                    </a:lnR>
                    <a:lnT w="19050" cap="flat" cmpd="sng" algn="ctr">
                      <a:solidFill>
                        <a:srgbClr val="BDCEC5"/>
                      </a:solidFill>
                      <a:prstDash val="solid"/>
                      <a:round/>
                      <a:headEnd type="none" w="med" len="med"/>
                      <a:tailEnd type="none" w="med" len="med"/>
                    </a:lnT>
                    <a:lnB w="19050" cap="flat" cmpd="sng" algn="ctr">
                      <a:solidFill>
                        <a:srgbClr val="BDCEC5"/>
                      </a:solidFill>
                      <a:prstDash val="solid"/>
                      <a:round/>
                      <a:headEnd type="none" w="med" len="med"/>
                      <a:tailEnd type="none" w="med" len="med"/>
                    </a:lnB>
                    <a:solidFill>
                      <a:srgbClr val="FFFFFF"/>
                    </a:solidFill>
                  </a:tcPr>
                </a:tc>
              </a:tr>
              <a:tr h="914400">
                <a:tc>
                  <a:txBody>
                    <a:bodyPr/>
                    <a:lstStyle/>
                    <a:p>
                      <a:pPr algn="ctr" indent="0" marL="0">
                        <a:buNone/>
                      </a:pPr>
                      <a:r>
                        <a:rPr lang="en-US" sz="2400" dirty="0">
                          <a:solidFill>
                            <a:srgbClr val="1A1A1A"/>
                          </a:solidFill>
                          <a:latin typeface="Meiryo" pitchFamily="34" charset="0"/>
                          <a:ea typeface="Meiryo" pitchFamily="34" charset="-122"/>
                          <a:cs typeface="Meiryo" pitchFamily="34" charset="-120"/>
                        </a:rPr>
                        <a:t>状態判定の根拠</a:t>
                      </a:r>
                      <a:endParaRPr lang="en-US" sz="2400" dirty="0">
                        <a:latin typeface="Meiryo" charset="0"/>
                        <a:ea typeface="Meiryo" charset="0"/>
                        <a:cs typeface="Meiryo" charset="0"/>
                      </a:endParaRPr>
                    </a:p>
                  </a:txBody>
                  <a:tcPr marL="91440" marR="91440" marT="45720" marB="45720" anchor="ctr">
                    <a:lnL w="19050" cap="flat" cmpd="sng" algn="ctr">
                      <a:solidFill>
                        <a:srgbClr val="BDCEC5"/>
                      </a:solidFill>
                      <a:prstDash val="solid"/>
                      <a:round/>
                      <a:headEnd type="none" w="med" len="med"/>
                      <a:tailEnd type="none" w="med" len="med"/>
                    </a:lnL>
                    <a:lnR w="19050" cap="flat" cmpd="sng" algn="ctr">
                      <a:solidFill>
                        <a:srgbClr val="BDCEC5"/>
                      </a:solidFill>
                      <a:prstDash val="solid"/>
                      <a:round/>
                      <a:headEnd type="none" w="med" len="med"/>
                      <a:tailEnd type="none" w="med" len="med"/>
                    </a:lnR>
                    <a:lnT w="19050" cap="flat" cmpd="sng" algn="ctr">
                      <a:solidFill>
                        <a:srgbClr val="BDCEC5"/>
                      </a:solidFill>
                      <a:prstDash val="solid"/>
                      <a:round/>
                      <a:headEnd type="none" w="med" len="med"/>
                      <a:tailEnd type="none" w="med" len="med"/>
                    </a:lnT>
                    <a:lnB w="19050" cap="flat" cmpd="sng" algn="ctr">
                      <a:solidFill>
                        <a:srgbClr val="BDCEC5"/>
                      </a:solidFill>
                      <a:prstDash val="solid"/>
                      <a:round/>
                      <a:headEnd type="none" w="med" len="med"/>
                      <a:tailEnd type="none" w="med" len="med"/>
                    </a:lnB>
                    <a:solidFill>
                      <a:srgbClr val="FFFFFF"/>
                    </a:solidFill>
                  </a:tcPr>
                </a:tc>
                <a:tc>
                  <a:txBody>
                    <a:bodyPr/>
                    <a:lstStyle/>
                    <a:p>
                      <a:pPr algn="ctr" indent="0" marL="0">
                        <a:buNone/>
                      </a:pPr>
                      <a:r>
                        <a:rPr lang="en-US" sz="2400" dirty="0">
                          <a:solidFill>
                            <a:srgbClr val="1A1A1A"/>
                          </a:solidFill>
                          <a:latin typeface="Meiryo" pitchFamily="34" charset="0"/>
                          <a:ea typeface="Meiryo" pitchFamily="34" charset="-122"/>
                          <a:cs typeface="Meiryo" pitchFamily="34" charset="-120"/>
                        </a:rPr>
                        <a:t>ルール表</a:t>
                      </a:r>
                      <a:endParaRPr lang="en-US" sz="2400" dirty="0">
                        <a:latin typeface="Meiryo" charset="0"/>
                        <a:ea typeface="Meiryo" charset="0"/>
                        <a:cs typeface="Meiryo" charset="0"/>
                      </a:endParaRPr>
                    </a:p>
                  </a:txBody>
                  <a:tcPr marL="91440" marR="91440" marT="45720" marB="45720" anchor="ctr">
                    <a:lnL w="19050" cap="flat" cmpd="sng" algn="ctr">
                      <a:solidFill>
                        <a:srgbClr val="BDCEC5"/>
                      </a:solidFill>
                      <a:prstDash val="solid"/>
                      <a:round/>
                      <a:headEnd type="none" w="med" len="med"/>
                      <a:tailEnd type="none" w="med" len="med"/>
                    </a:lnL>
                    <a:lnR w="19050" cap="flat" cmpd="sng" algn="ctr">
                      <a:solidFill>
                        <a:srgbClr val="BDCEC5"/>
                      </a:solidFill>
                      <a:prstDash val="solid"/>
                      <a:round/>
                      <a:headEnd type="none" w="med" len="med"/>
                      <a:tailEnd type="none" w="med" len="med"/>
                    </a:lnR>
                    <a:lnT w="19050" cap="flat" cmpd="sng" algn="ctr">
                      <a:solidFill>
                        <a:srgbClr val="BDCEC5"/>
                      </a:solidFill>
                      <a:prstDash val="solid"/>
                      <a:round/>
                      <a:headEnd type="none" w="med" len="med"/>
                      <a:tailEnd type="none" w="med" len="med"/>
                    </a:lnT>
                    <a:lnB w="19050" cap="flat" cmpd="sng" algn="ctr">
                      <a:solidFill>
                        <a:srgbClr val="BDCEC5"/>
                      </a:solidFill>
                      <a:prstDash val="solid"/>
                      <a:round/>
                      <a:headEnd type="none" w="med" len="med"/>
                      <a:tailEnd type="none" w="med" len="med"/>
                    </a:lnB>
                    <a:solidFill>
                      <a:srgbClr val="FFFFFF"/>
                    </a:solidFill>
                  </a:tcPr>
                </a:tc>
                <a:tc>
                  <a:txBody>
                    <a:bodyPr/>
                    <a:lstStyle/>
                    <a:p>
                      <a:pPr algn="ctr" indent="0" marL="0">
                        <a:buNone/>
                      </a:pPr>
                      <a:r>
                        <a:rPr lang="en-US" sz="2400" dirty="0">
                          <a:solidFill>
                            <a:srgbClr val="1A1A1A"/>
                          </a:solidFill>
                          <a:latin typeface="Meiryo" pitchFamily="34" charset="0"/>
                          <a:ea typeface="Meiryo" pitchFamily="34" charset="-122"/>
                          <a:cs typeface="Meiryo" pitchFamily="34" charset="-120"/>
                        </a:rPr>
                        <a:t>数値表示のみ</a:t>
                      </a:r>
                      <a:endParaRPr lang="en-US" sz="2400" dirty="0">
                        <a:latin typeface="Meiryo" charset="0"/>
                        <a:ea typeface="Meiryo" charset="0"/>
                        <a:cs typeface="Meiryo" charset="0"/>
                      </a:endParaRPr>
                    </a:p>
                  </a:txBody>
                  <a:tcPr marL="91440" marR="91440" marT="45720" marB="45720" anchor="ctr">
                    <a:lnL w="19050" cap="flat" cmpd="sng" algn="ctr">
                      <a:solidFill>
                        <a:srgbClr val="BDCEC5"/>
                      </a:solidFill>
                      <a:prstDash val="solid"/>
                      <a:round/>
                      <a:headEnd type="none" w="med" len="med"/>
                      <a:tailEnd type="none" w="med" len="med"/>
                    </a:lnL>
                    <a:lnR w="19050" cap="flat" cmpd="sng" algn="ctr">
                      <a:solidFill>
                        <a:srgbClr val="BDCEC5"/>
                      </a:solidFill>
                      <a:prstDash val="solid"/>
                      <a:round/>
                      <a:headEnd type="none" w="med" len="med"/>
                      <a:tailEnd type="none" w="med" len="med"/>
                    </a:lnR>
                    <a:lnT w="19050" cap="flat" cmpd="sng" algn="ctr">
                      <a:solidFill>
                        <a:srgbClr val="BDCEC5"/>
                      </a:solidFill>
                      <a:prstDash val="solid"/>
                      <a:round/>
                      <a:headEnd type="none" w="med" len="med"/>
                      <a:tailEnd type="none" w="med" len="med"/>
                    </a:lnT>
                    <a:lnB w="19050" cap="flat" cmpd="sng" algn="ctr">
                      <a:solidFill>
                        <a:srgbClr val="BDCEC5"/>
                      </a:solidFill>
                      <a:prstDash val="solid"/>
                      <a:round/>
                      <a:headEnd type="none" w="med" len="med"/>
                      <a:tailEnd type="none" w="med" len="med"/>
                    </a:lnB>
                    <a:solidFill>
                      <a:srgbClr val="FFFFFF"/>
                    </a:solidFill>
                  </a:tcPr>
                </a:tc>
              </a:tr>
              <a:tr h="914400">
                <a:tc>
                  <a:txBody>
                    <a:bodyPr/>
                    <a:lstStyle/>
                    <a:p>
                      <a:pPr algn="ctr" indent="0" marL="0">
                        <a:buNone/>
                      </a:pPr>
                      <a:r>
                        <a:rPr lang="en-US" sz="2400" dirty="0">
                          <a:solidFill>
                            <a:srgbClr val="1A1A1A"/>
                          </a:solidFill>
                          <a:latin typeface="Meiryo" pitchFamily="34" charset="0"/>
                          <a:ea typeface="Meiryo" pitchFamily="34" charset="-122"/>
                          <a:cs typeface="Meiryo" pitchFamily="34" charset="-120"/>
                        </a:rPr>
                        <a:t>ユーザーとの対話</a:t>
                      </a:r>
                      <a:endParaRPr lang="en-US" sz="2400" dirty="0">
                        <a:latin typeface="Meiryo" charset="0"/>
                        <a:ea typeface="Meiryo" charset="0"/>
                        <a:cs typeface="Meiryo" charset="0"/>
                      </a:endParaRPr>
                    </a:p>
                  </a:txBody>
                  <a:tcPr marL="91440" marR="91440" marT="45720" marB="45720" anchor="ctr">
                    <a:lnL w="19050" cap="flat" cmpd="sng" algn="ctr">
                      <a:solidFill>
                        <a:srgbClr val="BDCEC5"/>
                      </a:solidFill>
                      <a:prstDash val="solid"/>
                      <a:round/>
                      <a:headEnd type="none" w="med" len="med"/>
                      <a:tailEnd type="none" w="med" len="med"/>
                    </a:lnL>
                    <a:lnR w="19050" cap="flat" cmpd="sng" algn="ctr">
                      <a:solidFill>
                        <a:srgbClr val="BDCEC5"/>
                      </a:solidFill>
                      <a:prstDash val="solid"/>
                      <a:round/>
                      <a:headEnd type="none" w="med" len="med"/>
                      <a:tailEnd type="none" w="med" len="med"/>
                    </a:lnR>
                    <a:lnT w="19050" cap="flat" cmpd="sng" algn="ctr">
                      <a:solidFill>
                        <a:srgbClr val="BDCEC5"/>
                      </a:solidFill>
                      <a:prstDash val="solid"/>
                      <a:round/>
                      <a:headEnd type="none" w="med" len="med"/>
                      <a:tailEnd type="none" w="med" len="med"/>
                    </a:lnT>
                    <a:lnB w="19050" cap="flat" cmpd="sng" algn="ctr">
                      <a:solidFill>
                        <a:srgbClr val="BDCEC5"/>
                      </a:solidFill>
                      <a:prstDash val="solid"/>
                      <a:round/>
                      <a:headEnd type="none" w="med" len="med"/>
                      <a:tailEnd type="none" w="med" len="med"/>
                    </a:lnB>
                    <a:solidFill>
                      <a:srgbClr val="FFFFFF"/>
                    </a:solidFill>
                  </a:tcPr>
                </a:tc>
                <a:tc>
                  <a:txBody>
                    <a:bodyPr/>
                    <a:lstStyle/>
                    <a:p>
                      <a:pPr algn="ctr" indent="0" marL="0">
                        <a:buNone/>
                      </a:pPr>
                      <a:r>
                        <a:rPr lang="en-US" sz="2400" dirty="0">
                          <a:solidFill>
                            <a:srgbClr val="1A1A1A"/>
                          </a:solidFill>
                          <a:latin typeface="Meiryo" pitchFamily="34" charset="0"/>
                          <a:ea typeface="Meiryo" pitchFamily="34" charset="-122"/>
                          <a:cs typeface="Meiryo" pitchFamily="34" charset="-120"/>
                        </a:rPr>
                        <a:t>LINEで会話</a:t>
                      </a:r>
                      <a:endParaRPr lang="en-US" sz="2400" dirty="0">
                        <a:latin typeface="Meiryo" charset="0"/>
                        <a:ea typeface="Meiryo" charset="0"/>
                        <a:cs typeface="Meiryo" charset="0"/>
                      </a:endParaRPr>
                    </a:p>
                  </a:txBody>
                  <a:tcPr marL="91440" marR="91440" marT="45720" marB="45720" anchor="ctr">
                    <a:lnL w="19050" cap="flat" cmpd="sng" algn="ctr">
                      <a:solidFill>
                        <a:srgbClr val="BDCEC5"/>
                      </a:solidFill>
                      <a:prstDash val="solid"/>
                      <a:round/>
                      <a:headEnd type="none" w="med" len="med"/>
                      <a:tailEnd type="none" w="med" len="med"/>
                    </a:lnL>
                    <a:lnR w="19050" cap="flat" cmpd="sng" algn="ctr">
                      <a:solidFill>
                        <a:srgbClr val="BDCEC5"/>
                      </a:solidFill>
                      <a:prstDash val="solid"/>
                      <a:round/>
                      <a:headEnd type="none" w="med" len="med"/>
                      <a:tailEnd type="none" w="med" len="med"/>
                    </a:lnR>
                    <a:lnT w="19050" cap="flat" cmpd="sng" algn="ctr">
                      <a:solidFill>
                        <a:srgbClr val="BDCEC5"/>
                      </a:solidFill>
                      <a:prstDash val="solid"/>
                      <a:round/>
                      <a:headEnd type="none" w="med" len="med"/>
                      <a:tailEnd type="none" w="med" len="med"/>
                    </a:lnT>
                    <a:lnB w="19050" cap="flat" cmpd="sng" algn="ctr">
                      <a:solidFill>
                        <a:srgbClr val="BDCEC5"/>
                      </a:solidFill>
                      <a:prstDash val="solid"/>
                      <a:round/>
                      <a:headEnd type="none" w="med" len="med"/>
                      <a:tailEnd type="none" w="med" len="med"/>
                    </a:lnB>
                    <a:solidFill>
                      <a:srgbClr val="FFFFFF"/>
                    </a:solidFill>
                  </a:tcPr>
                </a:tc>
                <a:tc>
                  <a:txBody>
                    <a:bodyPr/>
                    <a:lstStyle/>
                    <a:p>
                      <a:pPr algn="ctr" indent="0" marL="0">
                        <a:buNone/>
                      </a:pPr>
                      <a:r>
                        <a:rPr lang="en-US" sz="2400" dirty="0">
                          <a:solidFill>
                            <a:srgbClr val="1A1A1A"/>
                          </a:solidFill>
                          <a:latin typeface="Meiryo" pitchFamily="34" charset="0"/>
                          <a:ea typeface="Meiryo" pitchFamily="34" charset="-122"/>
                          <a:cs typeface="Meiryo" pitchFamily="34" charset="-120"/>
                        </a:rPr>
                        <a:t>なし</a:t>
                      </a:r>
                      <a:endParaRPr lang="en-US" sz="2400" dirty="0">
                        <a:latin typeface="Meiryo" charset="0"/>
                        <a:ea typeface="Meiryo" charset="0"/>
                        <a:cs typeface="Meiryo" charset="0"/>
                      </a:endParaRPr>
                    </a:p>
                  </a:txBody>
                  <a:tcPr marL="91440" marR="91440" marT="45720" marB="45720" anchor="ctr">
                    <a:lnL w="19050" cap="flat" cmpd="sng" algn="ctr">
                      <a:solidFill>
                        <a:srgbClr val="BDCEC5"/>
                      </a:solidFill>
                      <a:prstDash val="solid"/>
                      <a:round/>
                      <a:headEnd type="none" w="med" len="med"/>
                      <a:tailEnd type="none" w="med" len="med"/>
                    </a:lnL>
                    <a:lnR w="19050" cap="flat" cmpd="sng" algn="ctr">
                      <a:solidFill>
                        <a:srgbClr val="BDCEC5"/>
                      </a:solidFill>
                      <a:prstDash val="solid"/>
                      <a:round/>
                      <a:headEnd type="none" w="med" len="med"/>
                      <a:tailEnd type="none" w="med" len="med"/>
                    </a:lnR>
                    <a:lnT w="19050" cap="flat" cmpd="sng" algn="ctr">
                      <a:solidFill>
                        <a:srgbClr val="BDCEC5"/>
                      </a:solidFill>
                      <a:prstDash val="solid"/>
                      <a:round/>
                      <a:headEnd type="none" w="med" len="med"/>
                      <a:tailEnd type="none" w="med" len="med"/>
                    </a:lnT>
                    <a:lnB w="19050" cap="flat" cmpd="sng" algn="ctr">
                      <a:solidFill>
                        <a:srgbClr val="BDCEC5"/>
                      </a:solidFill>
                      <a:prstDash val="solid"/>
                      <a:round/>
                      <a:headEnd type="none" w="med" len="med"/>
                      <a:tailEnd type="none" w="med" len="med"/>
                    </a:lnB>
                    <a:solidFill>
                      <a:srgbClr val="FFFFFF"/>
                    </a:solidFill>
                  </a:tcPr>
                </a:tc>
              </a:tr>
            </a:tbl>
          </a:graphicData>
        </a:graphic>
      </p:graphicFrame>
      <p:sp>
        <p:nvSpPr>
          <p:cNvPr id="25" name="Text 20"/>
          <p:cNvSpPr/>
          <p:nvPr/>
        </p:nvSpPr>
        <p:spPr>
          <a:xfrm>
            <a:off x="1188720" y="39319200"/>
            <a:ext cx="13537692" cy="640080"/>
          </a:xfrm>
          <a:prstGeom prst="rect">
            <a:avLst/>
          </a:prstGeom>
          <a:noFill/>
          <a:ln/>
        </p:spPr>
        <p:txBody>
          <a:bodyPr wrap="square" lIns="0" tIns="0" rIns="0" bIns="0" rtlCol="0" anchor="ctr"/>
          <a:lstStyle/>
          <a:p>
            <a:pPr algn="ctr" indent="0" marL="0">
              <a:buNone/>
            </a:pPr>
            <a:r>
              <a:rPr lang="en-US" sz="2300" b="1" dirty="0">
                <a:solidFill>
                  <a:srgbClr val="44514B"/>
                </a:solidFill>
                <a:latin typeface="Meiryo" pitchFamily="34" charset="0"/>
                <a:ea typeface="Meiryo" pitchFamily="34" charset="-122"/>
                <a:cs typeface="Meiryo" pitchFamily="34" charset="-120"/>
              </a:rPr>
              <a:t>表1　既存のスマートプランターとの比較</a:t>
            </a:r>
            <a:endParaRPr lang="en-US" sz="2300" dirty="0"/>
          </a:p>
        </p:txBody>
      </p:sp>
      <p:sp>
        <p:nvSpPr>
          <p:cNvPr id="26" name="Shape 21"/>
          <p:cNvSpPr/>
          <p:nvPr/>
        </p:nvSpPr>
        <p:spPr>
          <a:xfrm>
            <a:off x="15549372" y="4846320"/>
            <a:ext cx="1051560" cy="1188720"/>
          </a:xfrm>
          <a:prstGeom prst="roundRect">
            <a:avLst>
              <a:gd name="adj" fmla="val 10435"/>
            </a:avLst>
          </a:prstGeom>
          <a:solidFill>
            <a:srgbClr val="1E4A38"/>
          </a:solidFill>
          <a:ln/>
        </p:spPr>
      </p:sp>
      <p:sp>
        <p:nvSpPr>
          <p:cNvPr id="27" name="Text 22"/>
          <p:cNvSpPr/>
          <p:nvPr/>
        </p:nvSpPr>
        <p:spPr>
          <a:xfrm>
            <a:off x="15549372" y="4846320"/>
            <a:ext cx="1051560" cy="1188720"/>
          </a:xfrm>
          <a:prstGeom prst="rect">
            <a:avLst/>
          </a:prstGeom>
          <a:noFill/>
          <a:ln/>
        </p:spPr>
        <p:txBody>
          <a:bodyPr wrap="square" lIns="0" tIns="0" rIns="0" bIns="0" rtlCol="0" anchor="ctr"/>
          <a:lstStyle/>
          <a:p>
            <a:pPr algn="ctr" indent="0" marL="0">
              <a:buNone/>
            </a:pPr>
            <a:r>
              <a:rPr lang="en-US" sz="2800" b="1" dirty="0">
                <a:solidFill>
                  <a:srgbClr val="FFFFFF"/>
                </a:solidFill>
                <a:latin typeface="Meiryo" pitchFamily="34" charset="0"/>
                <a:ea typeface="Meiryo" pitchFamily="34" charset="-122"/>
                <a:cs typeface="Meiryo" pitchFamily="34" charset="-120"/>
              </a:rPr>
              <a:t>3</a:t>
            </a:r>
            <a:endParaRPr lang="en-US" sz="2800" dirty="0"/>
          </a:p>
        </p:txBody>
      </p:sp>
      <p:sp>
        <p:nvSpPr>
          <p:cNvPr id="28" name="Text 23"/>
          <p:cNvSpPr/>
          <p:nvPr/>
        </p:nvSpPr>
        <p:spPr>
          <a:xfrm>
            <a:off x="16875252" y="4846320"/>
            <a:ext cx="12211812" cy="1188720"/>
          </a:xfrm>
          <a:prstGeom prst="rect">
            <a:avLst/>
          </a:prstGeom>
          <a:noFill/>
          <a:ln/>
        </p:spPr>
        <p:txBody>
          <a:bodyPr wrap="square" lIns="0" tIns="0" rIns="0" bIns="0" rtlCol="0" anchor="ctr"/>
          <a:lstStyle/>
          <a:p>
            <a:pPr indent="0" marL="0">
              <a:buNone/>
            </a:pPr>
            <a:r>
              <a:rPr lang="en-US" sz="4000" b="1" dirty="0">
                <a:solidFill>
                  <a:srgbClr val="1E4A38"/>
                </a:solidFill>
                <a:latin typeface="Meiryo" pitchFamily="34" charset="0"/>
                <a:ea typeface="Meiryo" pitchFamily="34" charset="-122"/>
                <a:cs typeface="Meiryo" pitchFamily="34" charset="-120"/>
              </a:rPr>
              <a:t>研究方法</a:t>
            </a:r>
            <a:endParaRPr lang="en-US" sz="4000" dirty="0"/>
          </a:p>
        </p:txBody>
      </p:sp>
      <p:sp>
        <p:nvSpPr>
          <p:cNvPr id="29" name="Text 24"/>
          <p:cNvSpPr/>
          <p:nvPr/>
        </p:nvSpPr>
        <p:spPr>
          <a:xfrm>
            <a:off x="15549372" y="6309360"/>
            <a:ext cx="13537692" cy="6492240"/>
          </a:xfrm>
          <a:prstGeom prst="rect">
            <a:avLst/>
          </a:prstGeom>
          <a:noFill/>
          <a:ln/>
        </p:spPr>
        <p:txBody>
          <a:bodyPr wrap="square" lIns="0" tIns="0" rIns="0" bIns="0" rtlCol="0" anchor="t"/>
          <a:lstStyle/>
          <a:p>
            <a:pPr indent="0" marL="0">
              <a:lnSpc>
                <a:spcPts val="3800"/>
              </a:lnSpc>
              <a:buNone/>
            </a:pPr>
            <a:r>
              <a:rPr lang="en-US" sz="2600" dirty="0">
                <a:solidFill>
                  <a:srgbClr val="1A1A1A"/>
                </a:solidFill>
                <a:latin typeface="Meiryo" pitchFamily="34" charset="0"/>
                <a:ea typeface="Meiryo" pitchFamily="34" charset="-122"/>
                <a:cs typeface="Meiryo" pitchFamily="34" charset="-120"/>
              </a:rPr>
              <a:t>本システムはセンサーノード、クラウド処理、ユーザーインタフェースの3要素からなる（図3）。</a:t>
            </a:r>
            <a:endParaRPr lang="en-US" sz="2600" dirty="0"/>
          </a:p>
          <a:p>
            <a:pPr indent="0" marL="0">
              <a:lnSpc>
                <a:spcPts val="3800"/>
              </a:lnSpc>
              <a:buNone/>
            </a:pPr>
            <a:r>
              <a:rPr lang="en-US" sz="2600" dirty="0">
                <a:solidFill>
                  <a:srgbClr val="1A1A1A"/>
                </a:solidFill>
                <a:latin typeface="Meiryo" pitchFamily="34" charset="0"/>
                <a:ea typeface="Meiryo" pitchFamily="34" charset="-122"/>
                <a:cs typeface="Meiryo" pitchFamily="34" charset="-120"/>
              </a:rPr>
              <a:t>センサーノードにはESP32-DevKitCを用い、静電容量式土壌水分センサーSEN0193、BME280（気温・湿度・気圧）、TSL2591（照度）を接続した。各値は中央値フィルタで平滑化し、10分間隔でクラウドへ送信する。</a:t>
            </a:r>
            <a:endParaRPr lang="en-US" sz="2600" dirty="0"/>
          </a:p>
          <a:p>
            <a:pPr indent="0" marL="0">
              <a:lnSpc>
                <a:spcPts val="3800"/>
              </a:lnSpc>
              <a:buNone/>
            </a:pPr>
            <a:r>
              <a:rPr lang="en-US" sz="2600" dirty="0">
                <a:solidFill>
                  <a:srgbClr val="1A1A1A"/>
                </a:solidFill>
                <a:latin typeface="Meiryo" pitchFamily="34" charset="0"/>
                <a:ea typeface="Meiryo" pitchFamily="34" charset="-122"/>
                <a:cs typeface="Meiryo" pitchFamily="34" charset="-120"/>
              </a:rPr>
              <a:t>クラウド処理はSupabase Edge Functions上の3層パイプラインとして実装した。Layer 1は計測値を植物種ごとの閾値に照らして0〜100の快適スコアへ正規化する。Layer 2は正規化済みスコアから、5種類の感情と6種類の主訴を決定論的なルール表により決定する。Layer 3はLayer 2が確定した状態を入力として受け取り、Gemini APIがキャラクター設定に沿ったセリフの文体のみを生成する。</a:t>
            </a:r>
            <a:endParaRPr lang="en-US" sz="2600" dirty="0"/>
          </a:p>
          <a:p>
            <a:pPr indent="0" marL="0">
              <a:lnSpc>
                <a:spcPts val="3800"/>
              </a:lnSpc>
              <a:buNone/>
            </a:pPr>
            <a:r>
              <a:rPr lang="en-US" sz="2600" dirty="0">
                <a:solidFill>
                  <a:srgbClr val="1A1A1A"/>
                </a:solidFill>
                <a:latin typeface="Meiryo" pitchFamily="34" charset="0"/>
                <a:ea typeface="Meiryo" pitchFamily="34" charset="-122"/>
                <a:cs typeface="Meiryo" pitchFamily="34" charset="-120"/>
              </a:rPr>
              <a:t>要点は、状態の判定をLayer 2までに閉じ込め、大規模言語モデルに状態解釈を行わせない点にある。</a:t>
            </a:r>
            <a:endParaRPr lang="en-US" sz="2600" dirty="0"/>
          </a:p>
        </p:txBody>
      </p:sp>
      <p:sp>
        <p:nvSpPr>
          <p:cNvPr id="30" name="Shape 25"/>
          <p:cNvSpPr/>
          <p:nvPr/>
        </p:nvSpPr>
        <p:spPr>
          <a:xfrm>
            <a:off x="15549372" y="13258800"/>
            <a:ext cx="13537692" cy="4572000"/>
          </a:xfrm>
          <a:prstGeom prst="roundRect">
            <a:avLst>
              <a:gd name="adj" fmla="val 3600"/>
            </a:avLst>
          </a:prstGeom>
          <a:solidFill>
            <a:srgbClr val="EDF3EF"/>
          </a:solidFill>
          <a:ln w="19050">
            <a:solidFill>
              <a:srgbClr val="BDCEC5"/>
            </a:solidFill>
            <a:prstDash val="solid"/>
          </a:ln>
        </p:spPr>
      </p:sp>
      <p:sp>
        <p:nvSpPr>
          <p:cNvPr id="31" name="Shape 26"/>
          <p:cNvSpPr/>
          <p:nvPr/>
        </p:nvSpPr>
        <p:spPr>
          <a:xfrm>
            <a:off x="15915132" y="13898880"/>
            <a:ext cx="3017520" cy="2286000"/>
          </a:xfrm>
          <a:prstGeom prst="roundRect">
            <a:avLst>
              <a:gd name="adj" fmla="val 5600"/>
            </a:avLst>
          </a:prstGeom>
          <a:solidFill>
            <a:srgbClr val="FFFFFF"/>
          </a:solidFill>
          <a:ln w="31750">
            <a:solidFill>
              <a:srgbClr val="1E4A38"/>
            </a:solidFill>
            <a:prstDash val="solid"/>
          </a:ln>
        </p:spPr>
      </p:sp>
      <p:sp>
        <p:nvSpPr>
          <p:cNvPr id="32" name="Text 27"/>
          <p:cNvSpPr/>
          <p:nvPr/>
        </p:nvSpPr>
        <p:spPr>
          <a:xfrm>
            <a:off x="15915132" y="14036040"/>
            <a:ext cx="3017520" cy="502920"/>
          </a:xfrm>
          <a:prstGeom prst="rect">
            <a:avLst/>
          </a:prstGeom>
          <a:noFill/>
          <a:ln/>
        </p:spPr>
        <p:txBody>
          <a:bodyPr wrap="square" lIns="0" tIns="0" rIns="0" bIns="0" rtlCol="0" anchor="ctr"/>
          <a:lstStyle/>
          <a:p>
            <a:pPr algn="ctr" indent="0" marL="0">
              <a:buNone/>
            </a:pPr>
            <a:r>
              <a:rPr lang="en-US" sz="2200" b="1" dirty="0">
                <a:solidFill>
                  <a:srgbClr val="1E4A38"/>
                </a:solidFill>
                <a:latin typeface="Meiryo" pitchFamily="34" charset="0"/>
                <a:ea typeface="Meiryo" pitchFamily="34" charset="-122"/>
                <a:cs typeface="Meiryo" pitchFamily="34" charset="-120"/>
              </a:rPr>
              <a:t>ESP32</a:t>
            </a:r>
            <a:endParaRPr lang="en-US" sz="2200" dirty="0"/>
          </a:p>
        </p:txBody>
      </p:sp>
      <p:sp>
        <p:nvSpPr>
          <p:cNvPr id="33" name="Text 28"/>
          <p:cNvSpPr/>
          <p:nvPr/>
        </p:nvSpPr>
        <p:spPr>
          <a:xfrm>
            <a:off x="16006572" y="14584680"/>
            <a:ext cx="2834640" cy="1463040"/>
          </a:xfrm>
          <a:prstGeom prst="rect">
            <a:avLst/>
          </a:prstGeom>
          <a:noFill/>
          <a:ln/>
        </p:spPr>
        <p:txBody>
          <a:bodyPr wrap="square" lIns="0" tIns="0" rIns="0" bIns="0" rtlCol="0" anchor="ctr"/>
          <a:lstStyle/>
          <a:p>
            <a:pPr algn="ctr" indent="0" marL="0">
              <a:lnSpc>
                <a:spcPts val="2600"/>
              </a:lnSpc>
              <a:buNone/>
            </a:pPr>
            <a:r>
              <a:rPr lang="en-US" sz="1700" dirty="0">
                <a:solidFill>
                  <a:srgbClr val="1A1A1A"/>
                </a:solidFill>
                <a:latin typeface="Meiryo" pitchFamily="34" charset="0"/>
                <a:ea typeface="Meiryo" pitchFamily="34" charset="-122"/>
                <a:cs typeface="Meiryo" pitchFamily="34" charset="-120"/>
              </a:rPr>
              <a:t>土壌水分／気温</a:t>
            </a:r>
            <a:endParaRPr lang="en-US" sz="1700" dirty="0"/>
          </a:p>
          <a:p>
            <a:pPr algn="ctr" indent="0" marL="0">
              <a:lnSpc>
                <a:spcPts val="2600"/>
              </a:lnSpc>
              <a:buNone/>
            </a:pPr>
            <a:r>
              <a:rPr lang="en-US" sz="1700" dirty="0">
                <a:solidFill>
                  <a:srgbClr val="1A1A1A"/>
                </a:solidFill>
                <a:latin typeface="Meiryo" pitchFamily="34" charset="0"/>
                <a:ea typeface="Meiryo" pitchFamily="34" charset="-122"/>
                <a:cs typeface="Meiryo" pitchFamily="34" charset="-120"/>
              </a:rPr>
              <a:t>湿度／照度</a:t>
            </a:r>
            <a:endParaRPr lang="en-US" sz="1700" dirty="0"/>
          </a:p>
          <a:p>
            <a:pPr algn="ctr" indent="0" marL="0">
              <a:lnSpc>
                <a:spcPts val="2600"/>
              </a:lnSpc>
              <a:buNone/>
            </a:pPr>
            <a:r>
              <a:rPr lang="en-US" sz="1700" dirty="0">
                <a:solidFill>
                  <a:srgbClr val="1A1A1A"/>
                </a:solidFill>
                <a:latin typeface="Meiryo" pitchFamily="34" charset="0"/>
                <a:ea typeface="Meiryo" pitchFamily="34" charset="-122"/>
                <a:cs typeface="Meiryo" pitchFamily="34" charset="-120"/>
              </a:rPr>
              <a:t>OLED 128×64</a:t>
            </a:r>
            <a:endParaRPr lang="en-US" sz="1700" dirty="0"/>
          </a:p>
        </p:txBody>
      </p:sp>
      <p:sp>
        <p:nvSpPr>
          <p:cNvPr id="34" name="Shape 29"/>
          <p:cNvSpPr/>
          <p:nvPr/>
        </p:nvSpPr>
        <p:spPr>
          <a:xfrm>
            <a:off x="19069812" y="14859000"/>
            <a:ext cx="594360" cy="457200"/>
          </a:xfrm>
          <a:prstGeom prst="rightArrow">
            <a:avLst/>
          </a:prstGeom>
          <a:solidFill>
            <a:srgbClr val="03AF7A"/>
          </a:solidFill>
          <a:ln/>
        </p:spPr>
      </p:sp>
      <p:sp>
        <p:nvSpPr>
          <p:cNvPr id="35" name="Shape 30"/>
          <p:cNvSpPr/>
          <p:nvPr/>
        </p:nvSpPr>
        <p:spPr>
          <a:xfrm>
            <a:off x="19801332" y="13670280"/>
            <a:ext cx="5669280" cy="2743200"/>
          </a:xfrm>
          <a:prstGeom prst="roundRect">
            <a:avLst>
              <a:gd name="adj" fmla="val 4667"/>
            </a:avLst>
          </a:prstGeom>
          <a:solidFill>
            <a:srgbClr val="FFFFFF"/>
          </a:solidFill>
          <a:ln w="31750">
            <a:solidFill>
              <a:srgbClr val="1E4A38"/>
            </a:solidFill>
            <a:prstDash val="solid"/>
          </a:ln>
        </p:spPr>
      </p:sp>
      <p:sp>
        <p:nvSpPr>
          <p:cNvPr id="36" name="Text 31"/>
          <p:cNvSpPr/>
          <p:nvPr/>
        </p:nvSpPr>
        <p:spPr>
          <a:xfrm>
            <a:off x="19801332" y="13761720"/>
            <a:ext cx="5669280" cy="457200"/>
          </a:xfrm>
          <a:prstGeom prst="rect">
            <a:avLst/>
          </a:prstGeom>
          <a:noFill/>
          <a:ln/>
        </p:spPr>
        <p:txBody>
          <a:bodyPr wrap="square" lIns="0" tIns="0" rIns="0" bIns="0" rtlCol="0" anchor="ctr"/>
          <a:lstStyle/>
          <a:p>
            <a:pPr algn="ctr" indent="0" marL="0">
              <a:buNone/>
            </a:pPr>
            <a:r>
              <a:rPr lang="en-US" sz="2000" b="1" dirty="0">
                <a:solidFill>
                  <a:srgbClr val="1E4A38"/>
                </a:solidFill>
                <a:latin typeface="Meiryo" pitchFamily="34" charset="0"/>
                <a:ea typeface="Meiryo" pitchFamily="34" charset="-122"/>
                <a:cs typeface="Meiryo" pitchFamily="34" charset="-120"/>
              </a:rPr>
              <a:t>Supabase Edge Functions</a:t>
            </a:r>
            <a:endParaRPr lang="en-US" sz="2000" dirty="0"/>
          </a:p>
        </p:txBody>
      </p:sp>
      <p:sp>
        <p:nvSpPr>
          <p:cNvPr id="37" name="Shape 32"/>
          <p:cNvSpPr/>
          <p:nvPr/>
        </p:nvSpPr>
        <p:spPr>
          <a:xfrm>
            <a:off x="20029932" y="14264640"/>
            <a:ext cx="1645920" cy="1965960"/>
          </a:xfrm>
          <a:prstGeom prst="roundRect">
            <a:avLst>
              <a:gd name="adj" fmla="val 5556"/>
            </a:avLst>
          </a:prstGeom>
          <a:solidFill>
            <a:srgbClr val="EDF3EF"/>
          </a:solidFill>
          <a:ln w="19050">
            <a:solidFill>
              <a:srgbClr val="BDCEC5"/>
            </a:solidFill>
            <a:prstDash val="solid"/>
          </a:ln>
        </p:spPr>
      </p:sp>
      <p:sp>
        <p:nvSpPr>
          <p:cNvPr id="38" name="Text 33"/>
          <p:cNvSpPr/>
          <p:nvPr/>
        </p:nvSpPr>
        <p:spPr>
          <a:xfrm>
            <a:off x="20029932" y="14356080"/>
            <a:ext cx="1645920" cy="320040"/>
          </a:xfrm>
          <a:prstGeom prst="rect">
            <a:avLst/>
          </a:prstGeom>
          <a:noFill/>
          <a:ln/>
        </p:spPr>
        <p:txBody>
          <a:bodyPr wrap="square" lIns="0" tIns="0" rIns="0" bIns="0" rtlCol="0" anchor="ctr"/>
          <a:lstStyle/>
          <a:p>
            <a:pPr algn="ctr" indent="0" marL="0">
              <a:buNone/>
            </a:pPr>
            <a:r>
              <a:rPr lang="en-US" sz="1500" b="1" dirty="0">
                <a:solidFill>
                  <a:srgbClr val="44514B"/>
                </a:solidFill>
                <a:latin typeface="Meiryo" pitchFamily="34" charset="0"/>
                <a:ea typeface="Meiryo" pitchFamily="34" charset="-122"/>
                <a:cs typeface="Meiryo" pitchFamily="34" charset="-120"/>
              </a:rPr>
              <a:t>Layer 1</a:t>
            </a:r>
            <a:endParaRPr lang="en-US" sz="1500" dirty="0"/>
          </a:p>
        </p:txBody>
      </p:sp>
      <p:sp>
        <p:nvSpPr>
          <p:cNvPr id="39" name="Text 34"/>
          <p:cNvSpPr/>
          <p:nvPr/>
        </p:nvSpPr>
        <p:spPr>
          <a:xfrm>
            <a:off x="20029932" y="14676120"/>
            <a:ext cx="1645920" cy="411480"/>
          </a:xfrm>
          <a:prstGeom prst="rect">
            <a:avLst/>
          </a:prstGeom>
          <a:noFill/>
          <a:ln/>
        </p:spPr>
        <p:txBody>
          <a:bodyPr wrap="square" lIns="0" tIns="0" rIns="0" bIns="0" rtlCol="0" anchor="ctr"/>
          <a:lstStyle/>
          <a:p>
            <a:pPr algn="ctr" indent="0" marL="0">
              <a:buNone/>
            </a:pPr>
            <a:r>
              <a:rPr lang="en-US" sz="1800" b="1" dirty="0">
                <a:solidFill>
                  <a:srgbClr val="1A1A1A"/>
                </a:solidFill>
                <a:latin typeface="Meiryo" pitchFamily="34" charset="0"/>
                <a:ea typeface="Meiryo" pitchFamily="34" charset="-122"/>
                <a:cs typeface="Meiryo" pitchFamily="34" charset="-120"/>
              </a:rPr>
              <a:t>正規化</a:t>
            </a:r>
            <a:endParaRPr lang="en-US" sz="1800" dirty="0"/>
          </a:p>
        </p:txBody>
      </p:sp>
      <p:sp>
        <p:nvSpPr>
          <p:cNvPr id="40" name="Text 35"/>
          <p:cNvSpPr/>
          <p:nvPr/>
        </p:nvSpPr>
        <p:spPr>
          <a:xfrm>
            <a:off x="20075652" y="15133320"/>
            <a:ext cx="1554480" cy="1005840"/>
          </a:xfrm>
          <a:prstGeom prst="rect">
            <a:avLst/>
          </a:prstGeom>
          <a:noFill/>
          <a:ln/>
        </p:spPr>
        <p:txBody>
          <a:bodyPr wrap="square" lIns="0" tIns="0" rIns="0" bIns="0" rtlCol="0" anchor="ctr"/>
          <a:lstStyle/>
          <a:p>
            <a:pPr algn="ctr" indent="0" marL="0">
              <a:lnSpc>
                <a:spcPts val="2200"/>
              </a:lnSpc>
              <a:buNone/>
            </a:pPr>
            <a:r>
              <a:rPr lang="en-US" sz="1500" dirty="0">
                <a:solidFill>
                  <a:srgbClr val="44514B"/>
                </a:solidFill>
                <a:latin typeface="Meiryo" pitchFamily="34" charset="0"/>
                <a:ea typeface="Meiryo" pitchFamily="34" charset="-122"/>
                <a:cs typeface="Meiryo" pitchFamily="34" charset="-120"/>
              </a:rPr>
              <a:t>中央値フィルタ</a:t>
            </a:r>
            <a:endParaRPr lang="en-US" sz="1500" dirty="0"/>
          </a:p>
          <a:p>
            <a:pPr algn="ctr" indent="0" marL="0">
              <a:lnSpc>
                <a:spcPts val="2200"/>
              </a:lnSpc>
              <a:buNone/>
            </a:pPr>
            <a:r>
              <a:rPr lang="en-US" sz="1500" dirty="0">
                <a:solidFill>
                  <a:srgbClr val="44514B"/>
                </a:solidFill>
                <a:latin typeface="Meiryo" pitchFamily="34" charset="0"/>
                <a:ea typeface="Meiryo" pitchFamily="34" charset="-122"/>
                <a:cs typeface="Meiryo" pitchFamily="34" charset="-120"/>
              </a:rPr>
              <a:t>快適スコア</a:t>
            </a:r>
            <a:endParaRPr lang="en-US" sz="1500" dirty="0"/>
          </a:p>
        </p:txBody>
      </p:sp>
      <p:sp>
        <p:nvSpPr>
          <p:cNvPr id="41" name="Shape 36"/>
          <p:cNvSpPr/>
          <p:nvPr/>
        </p:nvSpPr>
        <p:spPr>
          <a:xfrm>
            <a:off x="21813012" y="14264640"/>
            <a:ext cx="1645920" cy="1965960"/>
          </a:xfrm>
          <a:prstGeom prst="roundRect">
            <a:avLst>
              <a:gd name="adj" fmla="val 5556"/>
            </a:avLst>
          </a:prstGeom>
          <a:solidFill>
            <a:srgbClr val="EDF3EF"/>
          </a:solidFill>
          <a:ln w="19050">
            <a:solidFill>
              <a:srgbClr val="BDCEC5"/>
            </a:solidFill>
            <a:prstDash val="solid"/>
          </a:ln>
        </p:spPr>
      </p:sp>
      <p:sp>
        <p:nvSpPr>
          <p:cNvPr id="42" name="Text 37"/>
          <p:cNvSpPr/>
          <p:nvPr/>
        </p:nvSpPr>
        <p:spPr>
          <a:xfrm>
            <a:off x="21813012" y="14356080"/>
            <a:ext cx="1645920" cy="320040"/>
          </a:xfrm>
          <a:prstGeom prst="rect">
            <a:avLst/>
          </a:prstGeom>
          <a:noFill/>
          <a:ln/>
        </p:spPr>
        <p:txBody>
          <a:bodyPr wrap="square" lIns="0" tIns="0" rIns="0" bIns="0" rtlCol="0" anchor="ctr"/>
          <a:lstStyle/>
          <a:p>
            <a:pPr algn="ctr" indent="0" marL="0">
              <a:buNone/>
            </a:pPr>
            <a:r>
              <a:rPr lang="en-US" sz="1500" b="1" dirty="0">
                <a:solidFill>
                  <a:srgbClr val="44514B"/>
                </a:solidFill>
                <a:latin typeface="Meiryo" pitchFamily="34" charset="0"/>
                <a:ea typeface="Meiryo" pitchFamily="34" charset="-122"/>
                <a:cs typeface="Meiryo" pitchFamily="34" charset="-120"/>
              </a:rPr>
              <a:t>Layer 2</a:t>
            </a:r>
            <a:endParaRPr lang="en-US" sz="1500" dirty="0"/>
          </a:p>
        </p:txBody>
      </p:sp>
      <p:sp>
        <p:nvSpPr>
          <p:cNvPr id="43" name="Text 38"/>
          <p:cNvSpPr/>
          <p:nvPr/>
        </p:nvSpPr>
        <p:spPr>
          <a:xfrm>
            <a:off x="21813012" y="14676120"/>
            <a:ext cx="1645920" cy="411480"/>
          </a:xfrm>
          <a:prstGeom prst="rect">
            <a:avLst/>
          </a:prstGeom>
          <a:noFill/>
          <a:ln/>
        </p:spPr>
        <p:txBody>
          <a:bodyPr wrap="square" lIns="0" tIns="0" rIns="0" bIns="0" rtlCol="0" anchor="ctr"/>
          <a:lstStyle/>
          <a:p>
            <a:pPr algn="ctr" indent="0" marL="0">
              <a:buNone/>
            </a:pPr>
            <a:r>
              <a:rPr lang="en-US" sz="1800" b="1" dirty="0">
                <a:solidFill>
                  <a:srgbClr val="1A1A1A"/>
                </a:solidFill>
                <a:latin typeface="Meiryo" pitchFamily="34" charset="0"/>
                <a:ea typeface="Meiryo" pitchFamily="34" charset="-122"/>
                <a:cs typeface="Meiryo" pitchFamily="34" charset="-120"/>
              </a:rPr>
              <a:t>感情エンジン</a:t>
            </a:r>
            <a:endParaRPr lang="en-US" sz="1800" dirty="0"/>
          </a:p>
        </p:txBody>
      </p:sp>
      <p:sp>
        <p:nvSpPr>
          <p:cNvPr id="44" name="Text 39"/>
          <p:cNvSpPr/>
          <p:nvPr/>
        </p:nvSpPr>
        <p:spPr>
          <a:xfrm>
            <a:off x="21858732" y="15133320"/>
            <a:ext cx="1554480" cy="1005840"/>
          </a:xfrm>
          <a:prstGeom prst="rect">
            <a:avLst/>
          </a:prstGeom>
          <a:noFill/>
          <a:ln/>
        </p:spPr>
        <p:txBody>
          <a:bodyPr wrap="square" lIns="0" tIns="0" rIns="0" bIns="0" rtlCol="0" anchor="ctr"/>
          <a:lstStyle/>
          <a:p>
            <a:pPr algn="ctr" indent="0" marL="0">
              <a:lnSpc>
                <a:spcPts val="2200"/>
              </a:lnSpc>
              <a:buNone/>
            </a:pPr>
            <a:r>
              <a:rPr lang="en-US" sz="1500" dirty="0">
                <a:solidFill>
                  <a:srgbClr val="44514B"/>
                </a:solidFill>
                <a:latin typeface="Meiryo" pitchFamily="34" charset="0"/>
                <a:ea typeface="Meiryo" pitchFamily="34" charset="-122"/>
                <a:cs typeface="Meiryo" pitchFamily="34" charset="-120"/>
              </a:rPr>
              <a:t>決定論ルール表</a:t>
            </a:r>
            <a:endParaRPr lang="en-US" sz="1500" dirty="0"/>
          </a:p>
          <a:p>
            <a:pPr algn="ctr" indent="0" marL="0">
              <a:lnSpc>
                <a:spcPts val="2200"/>
              </a:lnSpc>
              <a:buNone/>
            </a:pPr>
            <a:r>
              <a:rPr lang="en-US" sz="1500" dirty="0">
                <a:solidFill>
                  <a:srgbClr val="44514B"/>
                </a:solidFill>
                <a:latin typeface="Meiryo" pitchFamily="34" charset="0"/>
                <a:ea typeface="Meiryo" pitchFamily="34" charset="-122"/>
                <a:cs typeface="Meiryo" pitchFamily="34" charset="-120"/>
              </a:rPr>
              <a:t>5感情×6主訴</a:t>
            </a:r>
            <a:endParaRPr lang="en-US" sz="1500" dirty="0"/>
          </a:p>
        </p:txBody>
      </p:sp>
      <p:sp>
        <p:nvSpPr>
          <p:cNvPr id="45" name="Shape 40"/>
          <p:cNvSpPr/>
          <p:nvPr/>
        </p:nvSpPr>
        <p:spPr>
          <a:xfrm>
            <a:off x="23596092" y="14264640"/>
            <a:ext cx="1645920" cy="1965960"/>
          </a:xfrm>
          <a:prstGeom prst="roundRect">
            <a:avLst>
              <a:gd name="adj" fmla="val 5556"/>
            </a:avLst>
          </a:prstGeom>
          <a:solidFill>
            <a:srgbClr val="FDF1D8"/>
          </a:solidFill>
          <a:ln w="31750">
            <a:solidFill>
              <a:srgbClr val="F6AA00"/>
            </a:solidFill>
            <a:prstDash val="solid"/>
          </a:ln>
        </p:spPr>
      </p:sp>
      <p:sp>
        <p:nvSpPr>
          <p:cNvPr id="46" name="Text 41"/>
          <p:cNvSpPr/>
          <p:nvPr/>
        </p:nvSpPr>
        <p:spPr>
          <a:xfrm>
            <a:off x="23596092" y="14356080"/>
            <a:ext cx="1645920" cy="320040"/>
          </a:xfrm>
          <a:prstGeom prst="rect">
            <a:avLst/>
          </a:prstGeom>
          <a:noFill/>
          <a:ln/>
        </p:spPr>
        <p:txBody>
          <a:bodyPr wrap="square" lIns="0" tIns="0" rIns="0" bIns="0" rtlCol="0" anchor="ctr"/>
          <a:lstStyle/>
          <a:p>
            <a:pPr algn="ctr" indent="0" marL="0">
              <a:buNone/>
            </a:pPr>
            <a:r>
              <a:rPr lang="en-US" sz="1500" b="1" dirty="0">
                <a:solidFill>
                  <a:srgbClr val="9C6600"/>
                </a:solidFill>
                <a:latin typeface="Meiryo" pitchFamily="34" charset="0"/>
                <a:ea typeface="Meiryo" pitchFamily="34" charset="-122"/>
                <a:cs typeface="Meiryo" pitchFamily="34" charset="-120"/>
              </a:rPr>
              <a:t>Layer 3</a:t>
            </a:r>
            <a:endParaRPr lang="en-US" sz="1500" dirty="0"/>
          </a:p>
        </p:txBody>
      </p:sp>
      <p:sp>
        <p:nvSpPr>
          <p:cNvPr id="47" name="Text 42"/>
          <p:cNvSpPr/>
          <p:nvPr/>
        </p:nvSpPr>
        <p:spPr>
          <a:xfrm>
            <a:off x="23596092" y="14676120"/>
            <a:ext cx="1645920" cy="411480"/>
          </a:xfrm>
          <a:prstGeom prst="rect">
            <a:avLst/>
          </a:prstGeom>
          <a:noFill/>
          <a:ln/>
        </p:spPr>
        <p:txBody>
          <a:bodyPr wrap="square" lIns="0" tIns="0" rIns="0" bIns="0" rtlCol="0" anchor="ctr"/>
          <a:lstStyle/>
          <a:p>
            <a:pPr algn="ctr" indent="0" marL="0">
              <a:buNone/>
            </a:pPr>
            <a:r>
              <a:rPr lang="en-US" sz="1800" b="1" dirty="0">
                <a:solidFill>
                  <a:srgbClr val="1A1A1A"/>
                </a:solidFill>
                <a:latin typeface="Meiryo" pitchFamily="34" charset="0"/>
                <a:ea typeface="Meiryo" pitchFamily="34" charset="-122"/>
                <a:cs typeface="Meiryo" pitchFamily="34" charset="-120"/>
              </a:rPr>
              <a:t>対話生成</a:t>
            </a:r>
            <a:endParaRPr lang="en-US" sz="1800" dirty="0"/>
          </a:p>
        </p:txBody>
      </p:sp>
      <p:sp>
        <p:nvSpPr>
          <p:cNvPr id="48" name="Text 43"/>
          <p:cNvSpPr/>
          <p:nvPr/>
        </p:nvSpPr>
        <p:spPr>
          <a:xfrm>
            <a:off x="23641812" y="15133320"/>
            <a:ext cx="1554480" cy="1005840"/>
          </a:xfrm>
          <a:prstGeom prst="rect">
            <a:avLst/>
          </a:prstGeom>
          <a:noFill/>
          <a:ln/>
        </p:spPr>
        <p:txBody>
          <a:bodyPr wrap="square" lIns="0" tIns="0" rIns="0" bIns="0" rtlCol="0" anchor="ctr"/>
          <a:lstStyle/>
          <a:p>
            <a:pPr algn="ctr" indent="0" marL="0">
              <a:lnSpc>
                <a:spcPts val="2200"/>
              </a:lnSpc>
              <a:buNone/>
            </a:pPr>
            <a:r>
              <a:rPr lang="en-US" sz="1500" dirty="0">
                <a:solidFill>
                  <a:srgbClr val="44514B"/>
                </a:solidFill>
                <a:latin typeface="Meiryo" pitchFamily="34" charset="0"/>
                <a:ea typeface="Meiryo" pitchFamily="34" charset="-122"/>
                <a:cs typeface="Meiryo" pitchFamily="34" charset="-120"/>
              </a:rPr>
              <a:t>Gemini が</a:t>
            </a:r>
            <a:endParaRPr lang="en-US" sz="1500" dirty="0"/>
          </a:p>
          <a:p>
            <a:pPr algn="ctr" indent="0" marL="0">
              <a:lnSpc>
                <a:spcPts val="2200"/>
              </a:lnSpc>
              <a:buNone/>
            </a:pPr>
            <a:r>
              <a:rPr lang="en-US" sz="1500" dirty="0">
                <a:solidFill>
                  <a:srgbClr val="44514B"/>
                </a:solidFill>
                <a:latin typeface="Meiryo" pitchFamily="34" charset="0"/>
                <a:ea typeface="Meiryo" pitchFamily="34" charset="-122"/>
                <a:cs typeface="Meiryo" pitchFamily="34" charset="-120"/>
              </a:rPr>
              <a:t>文体のみ生成</a:t>
            </a:r>
            <a:endParaRPr lang="en-US" sz="1500" dirty="0"/>
          </a:p>
        </p:txBody>
      </p:sp>
      <p:sp>
        <p:nvSpPr>
          <p:cNvPr id="49" name="Shape 44"/>
          <p:cNvSpPr/>
          <p:nvPr/>
        </p:nvSpPr>
        <p:spPr>
          <a:xfrm>
            <a:off x="25607772" y="14859000"/>
            <a:ext cx="594360" cy="457200"/>
          </a:xfrm>
          <a:prstGeom prst="rightArrow">
            <a:avLst/>
          </a:prstGeom>
          <a:solidFill>
            <a:srgbClr val="03AF7A"/>
          </a:solidFill>
          <a:ln/>
        </p:spPr>
      </p:sp>
      <p:sp>
        <p:nvSpPr>
          <p:cNvPr id="50" name="Shape 45"/>
          <p:cNvSpPr/>
          <p:nvPr/>
        </p:nvSpPr>
        <p:spPr>
          <a:xfrm>
            <a:off x="26339292" y="13807440"/>
            <a:ext cx="2382012" cy="1280160"/>
          </a:xfrm>
          <a:prstGeom prst="roundRect">
            <a:avLst>
              <a:gd name="adj" fmla="val 10000"/>
            </a:avLst>
          </a:prstGeom>
          <a:solidFill>
            <a:srgbClr val="FFFFFF"/>
          </a:solidFill>
          <a:ln w="31750">
            <a:solidFill>
              <a:srgbClr val="1E4A38"/>
            </a:solidFill>
            <a:prstDash val="solid"/>
          </a:ln>
        </p:spPr>
      </p:sp>
      <p:sp>
        <p:nvSpPr>
          <p:cNvPr id="51" name="Text 46"/>
          <p:cNvSpPr/>
          <p:nvPr/>
        </p:nvSpPr>
        <p:spPr>
          <a:xfrm>
            <a:off x="26412444" y="13972032"/>
            <a:ext cx="2235708" cy="457200"/>
          </a:xfrm>
          <a:prstGeom prst="rect">
            <a:avLst/>
          </a:prstGeom>
          <a:noFill/>
          <a:ln/>
        </p:spPr>
        <p:txBody>
          <a:bodyPr wrap="square" lIns="0" tIns="0" rIns="0" bIns="0" rtlCol="0" anchor="ctr"/>
          <a:lstStyle/>
          <a:p>
            <a:pPr algn="ctr" indent="0" marL="0">
              <a:buNone/>
            </a:pPr>
            <a:r>
              <a:rPr lang="en-US" sz="2000" b="1" dirty="0">
                <a:solidFill>
                  <a:srgbClr val="1E4A38"/>
                </a:solidFill>
                <a:latin typeface="Meiryo" pitchFamily="34" charset="0"/>
                <a:ea typeface="Meiryo" pitchFamily="34" charset="-122"/>
                <a:cs typeface="Meiryo" pitchFamily="34" charset="-120"/>
              </a:rPr>
              <a:t>LINE 通知</a:t>
            </a:r>
            <a:endParaRPr lang="en-US" sz="2000" dirty="0"/>
          </a:p>
        </p:txBody>
      </p:sp>
      <p:sp>
        <p:nvSpPr>
          <p:cNvPr id="52" name="Text 47"/>
          <p:cNvSpPr/>
          <p:nvPr/>
        </p:nvSpPr>
        <p:spPr>
          <a:xfrm>
            <a:off x="26412444" y="14429232"/>
            <a:ext cx="2235708" cy="502920"/>
          </a:xfrm>
          <a:prstGeom prst="rect">
            <a:avLst/>
          </a:prstGeom>
          <a:noFill/>
          <a:ln/>
        </p:spPr>
        <p:txBody>
          <a:bodyPr wrap="square" lIns="0" tIns="0" rIns="0" bIns="0" rtlCol="0" anchor="ctr"/>
          <a:lstStyle/>
          <a:p>
            <a:pPr algn="ctr" indent="0" marL="0">
              <a:buNone/>
            </a:pPr>
            <a:r>
              <a:rPr lang="en-US" sz="1500" dirty="0">
                <a:solidFill>
                  <a:srgbClr val="44514B"/>
                </a:solidFill>
                <a:latin typeface="Meiryo" pitchFamily="34" charset="0"/>
                <a:ea typeface="Meiryo" pitchFamily="34" charset="-122"/>
                <a:cs typeface="Meiryo" pitchFamily="34" charset="-120"/>
              </a:rPr>
              <a:t>状態が遷移した時のみ</a:t>
            </a:r>
            <a:endParaRPr lang="en-US" sz="1500" dirty="0"/>
          </a:p>
        </p:txBody>
      </p:sp>
      <p:sp>
        <p:nvSpPr>
          <p:cNvPr id="53" name="Shape 48"/>
          <p:cNvSpPr/>
          <p:nvPr/>
        </p:nvSpPr>
        <p:spPr>
          <a:xfrm>
            <a:off x="26339292" y="15270480"/>
            <a:ext cx="2382012" cy="1280160"/>
          </a:xfrm>
          <a:prstGeom prst="roundRect">
            <a:avLst>
              <a:gd name="adj" fmla="val 10000"/>
            </a:avLst>
          </a:prstGeom>
          <a:solidFill>
            <a:srgbClr val="FFFFFF"/>
          </a:solidFill>
          <a:ln w="31750">
            <a:solidFill>
              <a:srgbClr val="1E4A38"/>
            </a:solidFill>
            <a:prstDash val="solid"/>
          </a:ln>
        </p:spPr>
      </p:sp>
      <p:sp>
        <p:nvSpPr>
          <p:cNvPr id="54" name="Text 49"/>
          <p:cNvSpPr/>
          <p:nvPr/>
        </p:nvSpPr>
        <p:spPr>
          <a:xfrm>
            <a:off x="26412444" y="15435072"/>
            <a:ext cx="2235708" cy="457200"/>
          </a:xfrm>
          <a:prstGeom prst="rect">
            <a:avLst/>
          </a:prstGeom>
          <a:noFill/>
          <a:ln/>
        </p:spPr>
        <p:txBody>
          <a:bodyPr wrap="square" lIns="0" tIns="0" rIns="0" bIns="0" rtlCol="0" anchor="ctr"/>
          <a:lstStyle/>
          <a:p>
            <a:pPr algn="ctr" indent="0" marL="0">
              <a:buNone/>
            </a:pPr>
            <a:r>
              <a:rPr lang="en-US" sz="2000" b="1" dirty="0">
                <a:solidFill>
                  <a:srgbClr val="1E4A38"/>
                </a:solidFill>
                <a:latin typeface="Meiryo" pitchFamily="34" charset="0"/>
                <a:ea typeface="Meiryo" pitchFamily="34" charset="-122"/>
                <a:cs typeface="Meiryo" pitchFamily="34" charset="-120"/>
              </a:rPr>
              <a:t>LINE 対話</a:t>
            </a:r>
            <a:endParaRPr lang="en-US" sz="2000" dirty="0"/>
          </a:p>
        </p:txBody>
      </p:sp>
      <p:sp>
        <p:nvSpPr>
          <p:cNvPr id="55" name="Text 50"/>
          <p:cNvSpPr/>
          <p:nvPr/>
        </p:nvSpPr>
        <p:spPr>
          <a:xfrm>
            <a:off x="26412444" y="15892272"/>
            <a:ext cx="2235708" cy="502920"/>
          </a:xfrm>
          <a:prstGeom prst="rect">
            <a:avLst/>
          </a:prstGeom>
          <a:noFill/>
          <a:ln/>
        </p:spPr>
        <p:txBody>
          <a:bodyPr wrap="square" lIns="0" tIns="0" rIns="0" bIns="0" rtlCol="0" anchor="ctr"/>
          <a:lstStyle/>
          <a:p>
            <a:pPr algn="ctr" indent="0" marL="0">
              <a:buNone/>
            </a:pPr>
            <a:r>
              <a:rPr lang="en-US" sz="1500" dirty="0">
                <a:solidFill>
                  <a:srgbClr val="44514B"/>
                </a:solidFill>
                <a:latin typeface="Meiryo" pitchFamily="34" charset="0"/>
                <a:ea typeface="Meiryo" pitchFamily="34" charset="-122"/>
                <a:cs typeface="Meiryo" pitchFamily="34" charset="-120"/>
              </a:rPr>
              <a:t>返信にも人格を保つ</a:t>
            </a:r>
            <a:endParaRPr lang="en-US" sz="1500" dirty="0"/>
          </a:p>
        </p:txBody>
      </p:sp>
      <p:sp>
        <p:nvSpPr>
          <p:cNvPr id="56" name="Shape 51"/>
          <p:cNvSpPr/>
          <p:nvPr/>
        </p:nvSpPr>
        <p:spPr>
          <a:xfrm>
            <a:off x="16829532" y="16779240"/>
            <a:ext cx="5806440" cy="365760"/>
          </a:xfrm>
          <a:prstGeom prst="leftArrow">
            <a:avLst/>
          </a:prstGeom>
          <a:solidFill>
            <a:srgbClr val="F6AA00"/>
          </a:solidFill>
          <a:ln/>
        </p:spPr>
      </p:sp>
      <p:sp>
        <p:nvSpPr>
          <p:cNvPr id="57" name="Text 52"/>
          <p:cNvSpPr/>
          <p:nvPr/>
        </p:nvSpPr>
        <p:spPr>
          <a:xfrm>
            <a:off x="16829532" y="17190720"/>
            <a:ext cx="7315200" cy="457200"/>
          </a:xfrm>
          <a:prstGeom prst="rect">
            <a:avLst/>
          </a:prstGeom>
          <a:noFill/>
          <a:ln/>
        </p:spPr>
        <p:txBody>
          <a:bodyPr wrap="square" lIns="0" tIns="0" rIns="0" bIns="0" rtlCol="0" anchor="ctr"/>
          <a:lstStyle/>
          <a:p>
            <a:pPr indent="0" marL="0">
              <a:buNone/>
            </a:pPr>
            <a:r>
              <a:rPr lang="en-US" sz="1700" b="1" dirty="0">
                <a:solidFill>
                  <a:srgbClr val="9C6600"/>
                </a:solidFill>
                <a:latin typeface="Meiryo" pitchFamily="34" charset="0"/>
                <a:ea typeface="Meiryo" pitchFamily="34" charset="-122"/>
                <a:cs typeface="Meiryo" pitchFamily="34" charset="-120"/>
              </a:rPr>
              <a:t>感情状態を返却 → OLEDに表情を描画</a:t>
            </a:r>
            <a:endParaRPr lang="en-US" sz="1700" dirty="0"/>
          </a:p>
        </p:txBody>
      </p:sp>
      <p:sp>
        <p:nvSpPr>
          <p:cNvPr id="58" name="Text 53"/>
          <p:cNvSpPr/>
          <p:nvPr/>
        </p:nvSpPr>
        <p:spPr>
          <a:xfrm>
            <a:off x="15549372" y="18013680"/>
            <a:ext cx="13537692" cy="640080"/>
          </a:xfrm>
          <a:prstGeom prst="rect">
            <a:avLst/>
          </a:prstGeom>
          <a:noFill/>
          <a:ln/>
        </p:spPr>
        <p:txBody>
          <a:bodyPr wrap="square" lIns="0" tIns="0" rIns="0" bIns="0" rtlCol="0" anchor="ctr"/>
          <a:lstStyle/>
          <a:p>
            <a:pPr algn="ctr" indent="0" marL="0">
              <a:buNone/>
            </a:pPr>
            <a:r>
              <a:rPr lang="en-US" sz="2300" b="1" dirty="0">
                <a:solidFill>
                  <a:srgbClr val="44514B"/>
                </a:solidFill>
                <a:latin typeface="Meiryo" pitchFamily="34" charset="0"/>
                <a:ea typeface="Meiryo" pitchFamily="34" charset="-122"/>
                <a:cs typeface="Meiryo" pitchFamily="34" charset="-120"/>
              </a:rPr>
              <a:t>図3　システム構成。判定はLayer 2まで、表現生成はLayer 3が担う。</a:t>
            </a:r>
            <a:endParaRPr lang="en-US" sz="2300" dirty="0"/>
          </a:p>
        </p:txBody>
      </p:sp>
      <p:sp>
        <p:nvSpPr>
          <p:cNvPr id="59" name="Shape 54"/>
          <p:cNvSpPr/>
          <p:nvPr/>
        </p:nvSpPr>
        <p:spPr>
          <a:xfrm>
            <a:off x="15549372" y="19110960"/>
            <a:ext cx="1051560" cy="1188720"/>
          </a:xfrm>
          <a:prstGeom prst="roundRect">
            <a:avLst>
              <a:gd name="adj" fmla="val 10435"/>
            </a:avLst>
          </a:prstGeom>
          <a:solidFill>
            <a:srgbClr val="1E4A38"/>
          </a:solidFill>
          <a:ln/>
        </p:spPr>
      </p:sp>
      <p:sp>
        <p:nvSpPr>
          <p:cNvPr id="60" name="Text 55"/>
          <p:cNvSpPr/>
          <p:nvPr/>
        </p:nvSpPr>
        <p:spPr>
          <a:xfrm>
            <a:off x="15549372" y="19110960"/>
            <a:ext cx="1051560" cy="1188720"/>
          </a:xfrm>
          <a:prstGeom prst="rect">
            <a:avLst/>
          </a:prstGeom>
          <a:noFill/>
          <a:ln/>
        </p:spPr>
        <p:txBody>
          <a:bodyPr wrap="square" lIns="0" tIns="0" rIns="0" bIns="0" rtlCol="0" anchor="ctr"/>
          <a:lstStyle/>
          <a:p>
            <a:pPr algn="ctr" indent="0" marL="0">
              <a:buNone/>
            </a:pPr>
            <a:r>
              <a:rPr lang="en-US" sz="2800" b="1" dirty="0">
                <a:solidFill>
                  <a:srgbClr val="FFFFFF"/>
                </a:solidFill>
                <a:latin typeface="Meiryo" pitchFamily="34" charset="0"/>
                <a:ea typeface="Meiryo" pitchFamily="34" charset="-122"/>
                <a:cs typeface="Meiryo" pitchFamily="34" charset="-120"/>
              </a:rPr>
              <a:t>4</a:t>
            </a:r>
            <a:endParaRPr lang="en-US" sz="2800" dirty="0"/>
          </a:p>
        </p:txBody>
      </p:sp>
      <p:sp>
        <p:nvSpPr>
          <p:cNvPr id="61" name="Text 56"/>
          <p:cNvSpPr/>
          <p:nvPr/>
        </p:nvSpPr>
        <p:spPr>
          <a:xfrm>
            <a:off x="16875252" y="19110960"/>
            <a:ext cx="12211812" cy="1188720"/>
          </a:xfrm>
          <a:prstGeom prst="rect">
            <a:avLst/>
          </a:prstGeom>
          <a:noFill/>
          <a:ln/>
        </p:spPr>
        <p:txBody>
          <a:bodyPr wrap="square" lIns="0" tIns="0" rIns="0" bIns="0" rtlCol="0" anchor="ctr"/>
          <a:lstStyle/>
          <a:p>
            <a:pPr indent="0" marL="0">
              <a:buNone/>
            </a:pPr>
            <a:r>
              <a:rPr lang="en-US" sz="4000" b="1" dirty="0">
                <a:solidFill>
                  <a:srgbClr val="1E4A38"/>
                </a:solidFill>
                <a:latin typeface="Meiryo" pitchFamily="34" charset="0"/>
                <a:ea typeface="Meiryo" pitchFamily="34" charset="-122"/>
                <a:cs typeface="Meiryo" pitchFamily="34" charset="-120"/>
              </a:rPr>
              <a:t>結果</a:t>
            </a:r>
            <a:endParaRPr lang="en-US" sz="4000" dirty="0"/>
          </a:p>
        </p:txBody>
      </p:sp>
      <p:sp>
        <p:nvSpPr>
          <p:cNvPr id="62" name="Text 57"/>
          <p:cNvSpPr/>
          <p:nvPr/>
        </p:nvSpPr>
        <p:spPr>
          <a:xfrm>
            <a:off x="15549372" y="20574000"/>
            <a:ext cx="13537692" cy="4937760"/>
          </a:xfrm>
          <a:prstGeom prst="rect">
            <a:avLst/>
          </a:prstGeom>
          <a:noFill/>
          <a:ln/>
        </p:spPr>
        <p:txBody>
          <a:bodyPr wrap="square" lIns="0" tIns="0" rIns="0" bIns="0" rtlCol="0" anchor="t"/>
          <a:lstStyle/>
          <a:p>
            <a:pPr indent="0" marL="0">
              <a:lnSpc>
                <a:spcPts val="3800"/>
              </a:lnSpc>
              <a:buNone/>
            </a:pPr>
            <a:r>
              <a:rPr lang="en-US" sz="2600" dirty="0">
                <a:solidFill>
                  <a:srgbClr val="1A1A1A"/>
                </a:solidFill>
                <a:latin typeface="Meiryo" pitchFamily="34" charset="0"/>
                <a:ea typeface="Meiryo" pitchFamily="34" charset="-122"/>
                <a:cs typeface="Meiryo" pitchFamily="34" charset="-120"/>
              </a:rPr>
              <a:t>カラテアを対象に「カラ美」として連続稼働させ、以下を実現した。</a:t>
            </a:r>
            <a:endParaRPr lang="en-US" sz="2600" dirty="0"/>
          </a:p>
          <a:p>
            <a:pPr indent="0" marL="0">
              <a:lnSpc>
                <a:spcPts val="3800"/>
              </a:lnSpc>
              <a:buNone/>
            </a:pPr>
            <a:r>
              <a:rPr lang="en-US" sz="2600" dirty="0">
                <a:solidFill>
                  <a:srgbClr val="1A1A1A"/>
                </a:solidFill>
                <a:latin typeface="Meiryo" pitchFamily="34" charset="0"/>
                <a:ea typeface="Meiryo" pitchFamily="34" charset="-122"/>
                <a:cs typeface="Meiryo" pitchFamily="34" charset="-120"/>
              </a:rPr>
              <a:t>(1) 表情表示：角丸長方形2つのパラメータを時間補間するEMO方式で感情を描画した（図4）。感情間を約500msでイージング補間し、放置時間に応じてまばたきと呼吸の振幅を減衰させることで、衰弱の進行を視覚的に提示する。</a:t>
            </a:r>
            <a:endParaRPr lang="en-US" sz="2600" dirty="0"/>
          </a:p>
          <a:p>
            <a:pPr indent="0" marL="0">
              <a:lnSpc>
                <a:spcPts val="3800"/>
              </a:lnSpc>
              <a:buNone/>
            </a:pPr>
            <a:r>
              <a:rPr lang="en-US" sz="2600" dirty="0">
                <a:solidFill>
                  <a:srgbClr val="1A1A1A"/>
                </a:solidFill>
                <a:latin typeface="Meiryo" pitchFamily="34" charset="0"/>
                <a:ea typeface="Meiryo" pitchFamily="34" charset="-122"/>
                <a:cs typeface="Meiryo" pitchFamily="34" charset="-120"/>
              </a:rPr>
              <a:t>(2) 双方向対話：単一のEdge Functionで署名検証・重複排除・返信生成を完結させた。ユーザーの返信にも植物は人格を保ったまま応答する（図5）。</a:t>
            </a:r>
            <a:endParaRPr lang="en-US" sz="2600" dirty="0"/>
          </a:p>
          <a:p>
            <a:pPr indent="0" marL="0">
              <a:lnSpc>
                <a:spcPts val="3800"/>
              </a:lnSpc>
              <a:buNone/>
            </a:pPr>
            <a:r>
              <a:rPr lang="en-US" sz="2600" dirty="0">
                <a:solidFill>
                  <a:srgbClr val="1A1A1A"/>
                </a:solidFill>
                <a:latin typeface="Meiryo" pitchFamily="34" charset="0"/>
                <a:ea typeface="Meiryo" pitchFamily="34" charset="-122"/>
                <a:cs typeface="Meiryo" pitchFamily="34" charset="-120"/>
              </a:rPr>
              <a:t>(3) 通知制御：通知は状態が遷移した時点のみ発火させる。初期ログでは9.5時間で11件の通知が生じたため、クールダウンとヒステリシスを導入して抑制した。</a:t>
            </a:r>
            <a:endParaRPr lang="en-US" sz="2600" dirty="0"/>
          </a:p>
          <a:p>
            <a:pPr indent="0" marL="0">
              <a:lnSpc>
                <a:spcPts val="3800"/>
              </a:lnSpc>
              <a:buNone/>
            </a:pPr>
            <a:r>
              <a:rPr lang="en-US" sz="2600" dirty="0">
                <a:solidFill>
                  <a:srgbClr val="1A1A1A"/>
                </a:solidFill>
                <a:latin typeface="Meiryo" pitchFamily="34" charset="0"/>
                <a:ea typeface="Meiryo" pitchFamily="34" charset="-122"/>
                <a:cs typeface="Meiryo" pitchFamily="34" charset="-120"/>
              </a:rPr>
              <a:t>(4) 検証：Layer 1〜2はAPIキー不要の19ケースで自動テストした。</a:t>
            </a:r>
            <a:endParaRPr lang="en-US" sz="2600" dirty="0"/>
          </a:p>
        </p:txBody>
      </p:sp>
      <p:sp>
        <p:nvSpPr>
          <p:cNvPr id="63" name="Shape 58"/>
          <p:cNvSpPr/>
          <p:nvPr/>
        </p:nvSpPr>
        <p:spPr>
          <a:xfrm>
            <a:off x="15549372" y="25968960"/>
            <a:ext cx="7315200" cy="4572000"/>
          </a:xfrm>
          <a:prstGeom prst="roundRect">
            <a:avLst>
              <a:gd name="adj" fmla="val 3600"/>
            </a:avLst>
          </a:prstGeom>
          <a:solidFill>
            <a:srgbClr val="FFFFFF"/>
          </a:solidFill>
          <a:ln w="19050">
            <a:solidFill>
              <a:srgbClr val="BDCEC5"/>
            </a:solidFill>
            <a:prstDash val="solid"/>
          </a:ln>
        </p:spPr>
      </p:sp>
      <p:pic>
        <p:nvPicPr>
          <p:cNvPr id="64" name="Image 0" descr="/home/claude/face_満足.png">    </p:cNvPr>
          <p:cNvPicPr>
            <a:picLocks noChangeAspect="1"/>
          </p:cNvPicPr>
          <p:nvPr/>
        </p:nvPicPr>
        <p:blipFill>
          <a:blip r:embed="rId3"/>
          <a:stretch>
            <a:fillRect/>
          </a:stretch>
        </p:blipFill>
        <p:spPr>
          <a:xfrm>
            <a:off x="15869412" y="26243280"/>
            <a:ext cx="3154680" cy="1577340"/>
          </a:xfrm>
          <a:prstGeom prst="rect">
            <a:avLst/>
          </a:prstGeom>
        </p:spPr>
      </p:pic>
      <p:sp>
        <p:nvSpPr>
          <p:cNvPr id="65" name="Text 59"/>
          <p:cNvSpPr/>
          <p:nvPr/>
        </p:nvSpPr>
        <p:spPr>
          <a:xfrm>
            <a:off x="15869412" y="27866340"/>
            <a:ext cx="3154680" cy="457200"/>
          </a:xfrm>
          <a:prstGeom prst="rect">
            <a:avLst/>
          </a:prstGeom>
          <a:noFill/>
          <a:ln/>
        </p:spPr>
        <p:txBody>
          <a:bodyPr wrap="square" lIns="0" tIns="0" rIns="0" bIns="0" rtlCol="0" anchor="ctr"/>
          <a:lstStyle/>
          <a:p>
            <a:pPr algn="ctr" indent="0" marL="0">
              <a:buNone/>
            </a:pPr>
            <a:r>
              <a:rPr lang="en-US" sz="2000" b="1" dirty="0">
                <a:solidFill>
                  <a:srgbClr val="1A1A1A"/>
                </a:solidFill>
                <a:latin typeface="Meiryo" pitchFamily="34" charset="0"/>
                <a:ea typeface="Meiryo" pitchFamily="34" charset="-122"/>
                <a:cs typeface="Meiryo" pitchFamily="34" charset="-120"/>
              </a:rPr>
              <a:t>満足</a:t>
            </a:r>
            <a:endParaRPr lang="en-US" sz="2000" dirty="0"/>
          </a:p>
        </p:txBody>
      </p:sp>
      <p:pic>
        <p:nvPicPr>
          <p:cNvPr id="66" name="Image 1" descr="/home/claude/face_軽い不満.png">    </p:cNvPr>
          <p:cNvPicPr>
            <a:picLocks noChangeAspect="1"/>
          </p:cNvPicPr>
          <p:nvPr/>
        </p:nvPicPr>
        <p:blipFill>
          <a:blip r:embed="rId4"/>
          <a:stretch>
            <a:fillRect/>
          </a:stretch>
        </p:blipFill>
        <p:spPr>
          <a:xfrm>
            <a:off x="19389852" y="26243280"/>
            <a:ext cx="3154680" cy="1577340"/>
          </a:xfrm>
          <a:prstGeom prst="rect">
            <a:avLst/>
          </a:prstGeom>
        </p:spPr>
      </p:pic>
      <p:sp>
        <p:nvSpPr>
          <p:cNvPr id="67" name="Text 60"/>
          <p:cNvSpPr/>
          <p:nvPr/>
        </p:nvSpPr>
        <p:spPr>
          <a:xfrm>
            <a:off x="19389852" y="27866340"/>
            <a:ext cx="3154680" cy="457200"/>
          </a:xfrm>
          <a:prstGeom prst="rect">
            <a:avLst/>
          </a:prstGeom>
          <a:noFill/>
          <a:ln/>
        </p:spPr>
        <p:txBody>
          <a:bodyPr wrap="square" lIns="0" tIns="0" rIns="0" bIns="0" rtlCol="0" anchor="ctr"/>
          <a:lstStyle/>
          <a:p>
            <a:pPr algn="ctr" indent="0" marL="0">
              <a:buNone/>
            </a:pPr>
            <a:r>
              <a:rPr lang="en-US" sz="2000" b="1" dirty="0">
                <a:solidFill>
                  <a:srgbClr val="1A1A1A"/>
                </a:solidFill>
                <a:latin typeface="Meiryo" pitchFamily="34" charset="0"/>
                <a:ea typeface="Meiryo" pitchFamily="34" charset="-122"/>
                <a:cs typeface="Meiryo" pitchFamily="34" charset="-120"/>
              </a:rPr>
              <a:t>軽い不満</a:t>
            </a:r>
            <a:endParaRPr lang="en-US" sz="2000" dirty="0"/>
          </a:p>
        </p:txBody>
      </p:sp>
      <p:pic>
        <p:nvPicPr>
          <p:cNvPr id="68" name="Image 2" descr="/home/claude/face_不安.png">    </p:cNvPr>
          <p:cNvPicPr>
            <a:picLocks noChangeAspect="1"/>
          </p:cNvPicPr>
          <p:nvPr/>
        </p:nvPicPr>
        <p:blipFill>
          <a:blip r:embed="rId5"/>
          <a:stretch>
            <a:fillRect/>
          </a:stretch>
        </p:blipFill>
        <p:spPr>
          <a:xfrm>
            <a:off x="15869412" y="28346400"/>
            <a:ext cx="3154680" cy="1577340"/>
          </a:xfrm>
          <a:prstGeom prst="rect">
            <a:avLst/>
          </a:prstGeom>
        </p:spPr>
      </p:pic>
      <p:sp>
        <p:nvSpPr>
          <p:cNvPr id="69" name="Text 61"/>
          <p:cNvSpPr/>
          <p:nvPr/>
        </p:nvSpPr>
        <p:spPr>
          <a:xfrm>
            <a:off x="15869412" y="29969460"/>
            <a:ext cx="3154680" cy="457200"/>
          </a:xfrm>
          <a:prstGeom prst="rect">
            <a:avLst/>
          </a:prstGeom>
          <a:noFill/>
          <a:ln/>
        </p:spPr>
        <p:txBody>
          <a:bodyPr wrap="square" lIns="0" tIns="0" rIns="0" bIns="0" rtlCol="0" anchor="ctr"/>
          <a:lstStyle/>
          <a:p>
            <a:pPr algn="ctr" indent="0" marL="0">
              <a:buNone/>
            </a:pPr>
            <a:r>
              <a:rPr lang="en-US" sz="2000" b="1" dirty="0">
                <a:solidFill>
                  <a:srgbClr val="1A1A1A"/>
                </a:solidFill>
                <a:latin typeface="Meiryo" pitchFamily="34" charset="0"/>
                <a:ea typeface="Meiryo" pitchFamily="34" charset="-122"/>
                <a:cs typeface="Meiryo" pitchFamily="34" charset="-120"/>
              </a:rPr>
              <a:t>不安</a:t>
            </a:r>
            <a:endParaRPr lang="en-US" sz="2000" dirty="0"/>
          </a:p>
        </p:txBody>
      </p:sp>
      <p:pic>
        <p:nvPicPr>
          <p:cNvPr id="70" name="Image 3" descr="/home/claude/face_苛立ち.png">    </p:cNvPr>
          <p:cNvPicPr>
            <a:picLocks noChangeAspect="1"/>
          </p:cNvPicPr>
          <p:nvPr/>
        </p:nvPicPr>
        <p:blipFill>
          <a:blip r:embed="rId6"/>
          <a:stretch>
            <a:fillRect/>
          </a:stretch>
        </p:blipFill>
        <p:spPr>
          <a:xfrm>
            <a:off x="19389852" y="28346400"/>
            <a:ext cx="3154680" cy="1577340"/>
          </a:xfrm>
          <a:prstGeom prst="rect">
            <a:avLst/>
          </a:prstGeom>
        </p:spPr>
      </p:pic>
      <p:sp>
        <p:nvSpPr>
          <p:cNvPr id="71" name="Text 62"/>
          <p:cNvSpPr/>
          <p:nvPr/>
        </p:nvSpPr>
        <p:spPr>
          <a:xfrm>
            <a:off x="19389852" y="29969460"/>
            <a:ext cx="3154680" cy="457200"/>
          </a:xfrm>
          <a:prstGeom prst="rect">
            <a:avLst/>
          </a:prstGeom>
          <a:noFill/>
          <a:ln/>
        </p:spPr>
        <p:txBody>
          <a:bodyPr wrap="square" lIns="0" tIns="0" rIns="0" bIns="0" rtlCol="0" anchor="ctr"/>
          <a:lstStyle/>
          <a:p>
            <a:pPr algn="ctr" indent="0" marL="0">
              <a:buNone/>
            </a:pPr>
            <a:r>
              <a:rPr lang="en-US" sz="2000" b="1" dirty="0">
                <a:solidFill>
                  <a:srgbClr val="1A1A1A"/>
                </a:solidFill>
                <a:latin typeface="Meiryo" pitchFamily="34" charset="0"/>
                <a:ea typeface="Meiryo" pitchFamily="34" charset="-122"/>
                <a:cs typeface="Meiryo" pitchFamily="34" charset="-120"/>
              </a:rPr>
              <a:t>苛立ち</a:t>
            </a:r>
            <a:endParaRPr lang="en-US" sz="2000" dirty="0"/>
          </a:p>
        </p:txBody>
      </p:sp>
      <p:sp>
        <p:nvSpPr>
          <p:cNvPr id="72" name="Shape 63"/>
          <p:cNvSpPr/>
          <p:nvPr/>
        </p:nvSpPr>
        <p:spPr>
          <a:xfrm>
            <a:off x="23321772" y="25968960"/>
            <a:ext cx="5765292" cy="4572000"/>
          </a:xfrm>
          <a:prstGeom prst="roundRect">
            <a:avLst>
              <a:gd name="adj" fmla="val 3600"/>
            </a:avLst>
          </a:prstGeom>
          <a:solidFill>
            <a:srgbClr val="FFFFFF"/>
          </a:solidFill>
          <a:ln w="19050">
            <a:solidFill>
              <a:srgbClr val="BDCEC5"/>
            </a:solidFill>
            <a:prstDash val="solid"/>
          </a:ln>
        </p:spPr>
      </p:sp>
      <p:pic>
        <p:nvPicPr>
          <p:cNvPr id="73" name="Image 4" descr="/home/claude/line_crop.png">    </p:cNvPr>
          <p:cNvPicPr>
            <a:picLocks noChangeAspect="1"/>
          </p:cNvPicPr>
          <p:nvPr/>
        </p:nvPicPr>
        <p:blipFill>
          <a:blip r:embed="rId7"/>
          <a:stretch>
            <a:fillRect/>
          </a:stretch>
        </p:blipFill>
        <p:spPr>
          <a:xfrm>
            <a:off x="23918418" y="26289000"/>
            <a:ext cx="4572000" cy="3640127"/>
          </a:xfrm>
          <a:prstGeom prst="rect">
            <a:avLst/>
          </a:prstGeom>
        </p:spPr>
      </p:pic>
      <p:sp>
        <p:nvSpPr>
          <p:cNvPr id="74" name="Text 64"/>
          <p:cNvSpPr/>
          <p:nvPr/>
        </p:nvSpPr>
        <p:spPr>
          <a:xfrm>
            <a:off x="15549372" y="30723840"/>
            <a:ext cx="7315200" cy="640080"/>
          </a:xfrm>
          <a:prstGeom prst="rect">
            <a:avLst/>
          </a:prstGeom>
          <a:noFill/>
          <a:ln/>
        </p:spPr>
        <p:txBody>
          <a:bodyPr wrap="square" lIns="0" tIns="0" rIns="0" bIns="0" rtlCol="0" anchor="ctr"/>
          <a:lstStyle/>
          <a:p>
            <a:pPr algn="ctr" indent="0" marL="0">
              <a:buNone/>
            </a:pPr>
            <a:r>
              <a:rPr lang="en-US" sz="2300" b="1" dirty="0">
                <a:solidFill>
                  <a:srgbClr val="44514B"/>
                </a:solidFill>
                <a:latin typeface="Meiryo" pitchFamily="34" charset="0"/>
                <a:ea typeface="Meiryo" pitchFamily="34" charset="-122"/>
                <a:cs typeface="Meiryo" pitchFamily="34" charset="-120"/>
              </a:rPr>
              <a:t>図4　OLEDに描画される表情（128×64）</a:t>
            </a:r>
            <a:endParaRPr lang="en-US" sz="2300" dirty="0"/>
          </a:p>
        </p:txBody>
      </p:sp>
      <p:sp>
        <p:nvSpPr>
          <p:cNvPr id="75" name="Text 65"/>
          <p:cNvSpPr/>
          <p:nvPr/>
        </p:nvSpPr>
        <p:spPr>
          <a:xfrm>
            <a:off x="23321772" y="30723840"/>
            <a:ext cx="5765292" cy="640080"/>
          </a:xfrm>
          <a:prstGeom prst="rect">
            <a:avLst/>
          </a:prstGeom>
          <a:noFill/>
          <a:ln/>
        </p:spPr>
        <p:txBody>
          <a:bodyPr wrap="square" lIns="0" tIns="0" rIns="0" bIns="0" rtlCol="0" anchor="ctr"/>
          <a:lstStyle/>
          <a:p>
            <a:pPr algn="ctr" indent="0" marL="0">
              <a:buNone/>
            </a:pPr>
            <a:r>
              <a:rPr lang="en-US" sz="2300" b="1" dirty="0">
                <a:solidFill>
                  <a:srgbClr val="44514B"/>
                </a:solidFill>
                <a:latin typeface="Meiryo" pitchFamily="34" charset="0"/>
                <a:ea typeface="Meiryo" pitchFamily="34" charset="-122"/>
                <a:cs typeface="Meiryo" pitchFamily="34" charset="-120"/>
              </a:rPr>
              <a:t>図5　LINEによる双方向対話の例</a:t>
            </a:r>
            <a:endParaRPr lang="en-US" sz="2300" dirty="0"/>
          </a:p>
        </p:txBody>
      </p:sp>
      <p:sp>
        <p:nvSpPr>
          <p:cNvPr id="76" name="Shape 66"/>
          <p:cNvSpPr/>
          <p:nvPr/>
        </p:nvSpPr>
        <p:spPr>
          <a:xfrm>
            <a:off x="15549372" y="31821120"/>
            <a:ext cx="1051560" cy="1188720"/>
          </a:xfrm>
          <a:prstGeom prst="roundRect">
            <a:avLst>
              <a:gd name="adj" fmla="val 10435"/>
            </a:avLst>
          </a:prstGeom>
          <a:solidFill>
            <a:srgbClr val="1E4A38"/>
          </a:solidFill>
          <a:ln/>
        </p:spPr>
      </p:sp>
      <p:sp>
        <p:nvSpPr>
          <p:cNvPr id="77" name="Text 67"/>
          <p:cNvSpPr/>
          <p:nvPr/>
        </p:nvSpPr>
        <p:spPr>
          <a:xfrm>
            <a:off x="15549372" y="31821120"/>
            <a:ext cx="1051560" cy="1188720"/>
          </a:xfrm>
          <a:prstGeom prst="rect">
            <a:avLst/>
          </a:prstGeom>
          <a:noFill/>
          <a:ln/>
        </p:spPr>
        <p:txBody>
          <a:bodyPr wrap="square" lIns="0" tIns="0" rIns="0" bIns="0" rtlCol="0" anchor="ctr"/>
          <a:lstStyle/>
          <a:p>
            <a:pPr algn="ctr" indent="0" marL="0">
              <a:buNone/>
            </a:pPr>
            <a:r>
              <a:rPr lang="en-US" sz="2800" b="1" dirty="0">
                <a:solidFill>
                  <a:srgbClr val="FFFFFF"/>
                </a:solidFill>
                <a:latin typeface="Meiryo" pitchFamily="34" charset="0"/>
                <a:ea typeface="Meiryo" pitchFamily="34" charset="-122"/>
                <a:cs typeface="Meiryo" pitchFamily="34" charset="-120"/>
              </a:rPr>
              <a:t>5</a:t>
            </a:r>
            <a:endParaRPr lang="en-US" sz="2800" dirty="0"/>
          </a:p>
        </p:txBody>
      </p:sp>
      <p:sp>
        <p:nvSpPr>
          <p:cNvPr id="78" name="Text 68"/>
          <p:cNvSpPr/>
          <p:nvPr/>
        </p:nvSpPr>
        <p:spPr>
          <a:xfrm>
            <a:off x="16875252" y="31821120"/>
            <a:ext cx="12211812" cy="1188720"/>
          </a:xfrm>
          <a:prstGeom prst="rect">
            <a:avLst/>
          </a:prstGeom>
          <a:noFill/>
          <a:ln/>
        </p:spPr>
        <p:txBody>
          <a:bodyPr wrap="square" lIns="0" tIns="0" rIns="0" bIns="0" rtlCol="0" anchor="ctr"/>
          <a:lstStyle/>
          <a:p>
            <a:pPr indent="0" marL="0">
              <a:buNone/>
            </a:pPr>
            <a:r>
              <a:rPr lang="en-US" sz="4000" b="1" dirty="0">
                <a:solidFill>
                  <a:srgbClr val="1E4A38"/>
                </a:solidFill>
                <a:latin typeface="Meiryo" pitchFamily="34" charset="0"/>
                <a:ea typeface="Meiryo" pitchFamily="34" charset="-122"/>
                <a:cs typeface="Meiryo" pitchFamily="34" charset="-120"/>
              </a:rPr>
              <a:t>結論</a:t>
            </a:r>
            <a:endParaRPr lang="en-US" sz="4000" dirty="0"/>
          </a:p>
        </p:txBody>
      </p:sp>
      <p:sp>
        <p:nvSpPr>
          <p:cNvPr id="79" name="Text 69"/>
          <p:cNvSpPr/>
          <p:nvPr/>
        </p:nvSpPr>
        <p:spPr>
          <a:xfrm>
            <a:off x="15549372" y="33284160"/>
            <a:ext cx="13537692" cy="4114800"/>
          </a:xfrm>
          <a:prstGeom prst="rect">
            <a:avLst/>
          </a:prstGeom>
          <a:noFill/>
          <a:ln/>
        </p:spPr>
        <p:txBody>
          <a:bodyPr wrap="square" lIns="0" tIns="0" rIns="0" bIns="0" rtlCol="0" anchor="t"/>
          <a:lstStyle/>
          <a:p>
            <a:pPr indent="0" marL="0">
              <a:lnSpc>
                <a:spcPts val="3800"/>
              </a:lnSpc>
              <a:buNone/>
            </a:pPr>
            <a:r>
              <a:rPr lang="en-US" sz="2600" dirty="0">
                <a:solidFill>
                  <a:srgbClr val="1A1A1A"/>
                </a:solidFill>
                <a:latin typeface="Meiryo" pitchFamily="34" charset="0"/>
                <a:ea typeface="Meiryo" pitchFamily="34" charset="-122"/>
                <a:cs typeface="Meiryo" pitchFamily="34" charset="-120"/>
              </a:rPr>
              <a:t>植物の状態判定を決定論的なルールベース層に閉じ込め、大規模言語モデルには発話の生成のみを担わせる構成により、擬人化による親しみやすさと出力の妥当性を両立させた。アンケートで上位を占めた3つの障壁には、留守中のLINE配信、照度の可視化、状態遷移トリガー通知をそれぞれ対応づけている。</a:t>
            </a:r>
            <a:endParaRPr lang="en-US" sz="2600" dirty="0"/>
          </a:p>
          <a:p>
            <a:pPr indent="0" marL="0">
              <a:lnSpc>
                <a:spcPts val="3800"/>
              </a:lnSpc>
              <a:buNone/>
            </a:pPr>
            <a:r>
              <a:rPr lang="en-US" sz="2600" dirty="0">
                <a:solidFill>
                  <a:srgbClr val="1A1A1A"/>
                </a:solidFill>
                <a:latin typeface="Meiryo" pitchFamily="34" charset="0"/>
                <a:ea typeface="Meiryo" pitchFamily="34" charset="-122"/>
                <a:cs typeface="Meiryo" pitchFamily="34" charset="-120"/>
              </a:rPr>
              <a:t>一方、長期運用における育成継続率の向上は未評価である。今後はカメラによる葉色・萎れの解析をLayer 1へ合流させ、親密度スコアの導入と月額運用コストの実測を進める。</a:t>
            </a:r>
            <a:endParaRPr lang="en-US" sz="2600" dirty="0"/>
          </a:p>
        </p:txBody>
      </p:sp>
      <p:sp>
        <p:nvSpPr>
          <p:cNvPr id="80" name="Text 70"/>
          <p:cNvSpPr/>
          <p:nvPr/>
        </p:nvSpPr>
        <p:spPr>
          <a:xfrm>
            <a:off x="15549372" y="37856160"/>
            <a:ext cx="13537692" cy="731520"/>
          </a:xfrm>
          <a:prstGeom prst="rect">
            <a:avLst/>
          </a:prstGeom>
          <a:noFill/>
          <a:ln/>
        </p:spPr>
        <p:txBody>
          <a:bodyPr wrap="square" lIns="0" tIns="0" rIns="0" bIns="0" rtlCol="0" anchor="ctr"/>
          <a:lstStyle/>
          <a:p>
            <a:pPr indent="0" marL="0">
              <a:buNone/>
            </a:pPr>
            <a:r>
              <a:rPr lang="en-US" sz="2800" b="1" dirty="0">
                <a:solidFill>
                  <a:srgbClr val="1E4A38"/>
                </a:solidFill>
                <a:latin typeface="Meiryo" pitchFamily="34" charset="0"/>
                <a:ea typeface="Meiryo" pitchFamily="34" charset="-122"/>
                <a:cs typeface="Meiryo" pitchFamily="34" charset="-120"/>
              </a:rPr>
              <a:t>参考文献・謝辞</a:t>
            </a:r>
            <a:endParaRPr lang="en-US" sz="2800" dirty="0"/>
          </a:p>
        </p:txBody>
      </p:sp>
      <p:sp>
        <p:nvSpPr>
          <p:cNvPr id="81" name="Text 71"/>
          <p:cNvSpPr/>
          <p:nvPr/>
        </p:nvSpPr>
        <p:spPr>
          <a:xfrm>
            <a:off x="15549372" y="38679120"/>
            <a:ext cx="13537692" cy="2194560"/>
          </a:xfrm>
          <a:prstGeom prst="rect">
            <a:avLst/>
          </a:prstGeom>
          <a:noFill/>
          <a:ln/>
        </p:spPr>
        <p:txBody>
          <a:bodyPr wrap="square" lIns="0" tIns="0" rIns="0" bIns="0" rtlCol="0" anchor="ctr"/>
          <a:lstStyle/>
          <a:p>
            <a:pPr indent="0" marL="0">
              <a:lnSpc>
                <a:spcPts val="3000"/>
              </a:lnSpc>
              <a:buNone/>
            </a:pPr>
            <a:r>
              <a:rPr lang="en-US" sz="1900" dirty="0">
                <a:solidFill>
                  <a:srgbClr val="44514B"/>
                </a:solidFill>
                <a:latin typeface="Meiryo" pitchFamily="34" charset="0"/>
                <a:ea typeface="Meiryo" pitchFamily="34" charset="-122"/>
                <a:cs typeface="Meiryo" pitchFamily="34" charset="-120"/>
              </a:rPr>
              <a:t>[1] 総務省統計局: 家計調査（総世帯）家計収支編 詳細結果表, e-Stat, 2018–2025.</a:t>
            </a:r>
            <a:endParaRPr lang="en-US" sz="1900" dirty="0"/>
          </a:p>
          <a:p>
            <a:pPr indent="0" marL="0">
              <a:lnSpc>
                <a:spcPts val="3000"/>
              </a:lnSpc>
              <a:buNone/>
            </a:pPr>
            <a:r>
              <a:rPr lang="en-US" sz="1900" dirty="0">
                <a:solidFill>
                  <a:srgbClr val="44514B"/>
                </a:solidFill>
                <a:latin typeface="Meiryo" pitchFamily="34" charset="0"/>
                <a:ea typeface="Meiryo" pitchFamily="34" charset="-122"/>
                <a:cs typeface="Meiryo" pitchFamily="34" charset="-120"/>
              </a:rPr>
              <a:t>[2] Mu Design: Lua — the smart plant pot with emotions, 製品資料.</a:t>
            </a:r>
            <a:endParaRPr lang="en-US" sz="1900" dirty="0"/>
          </a:p>
          <a:p>
            <a:pPr indent="0" marL="0">
              <a:lnSpc>
                <a:spcPts val="3000"/>
              </a:lnSpc>
              <a:buNone/>
            </a:pPr>
            <a:r>
              <a:rPr lang="en-US" sz="1900" dirty="0">
                <a:solidFill>
                  <a:srgbClr val="44514B"/>
                </a:solidFill>
                <a:latin typeface="Meiryo" pitchFamily="34" charset="0"/>
                <a:ea typeface="Meiryo" pitchFamily="34" charset="-122"/>
                <a:cs typeface="Meiryo" pitchFamily="34" charset="-120"/>
              </a:rPr>
              <a:t>[3] Xiaomi: Smart Flower Pot, 製品資料.</a:t>
            </a:r>
            <a:endParaRPr lang="en-US" sz="1900" dirty="0"/>
          </a:p>
          <a:p>
            <a:pPr indent="0" marL="0">
              <a:lnSpc>
                <a:spcPts val="3000"/>
              </a:lnSpc>
              <a:buNone/>
            </a:pPr>
            <a:r>
              <a:rPr lang="en-US" sz="1900" dirty="0">
                <a:solidFill>
                  <a:srgbClr val="44514B"/>
                </a:solidFill>
                <a:latin typeface="Meiryo" pitchFamily="34" charset="0"/>
                <a:ea typeface="Meiryo" pitchFamily="34" charset="-122"/>
                <a:cs typeface="Meiryo" pitchFamily="34" charset="-120"/>
              </a:rPr>
              <a:t>[4] 本研究 課題検証アンケート（N=83）, 2026年7月実施.</a:t>
            </a:r>
            <a:endParaRPr lang="en-US" sz="1900" dirty="0"/>
          </a:p>
          <a:p>
            <a:pPr indent="0" marL="0">
              <a:lnSpc>
                <a:spcPts val="3000"/>
              </a:lnSpc>
              <a:buNone/>
            </a:pPr>
            <a:r>
              <a:rPr lang="en-US" sz="1900" dirty="0">
                <a:solidFill>
                  <a:srgbClr val="44514B"/>
                </a:solidFill>
                <a:latin typeface="Meiryo" pitchFamily="34" charset="0"/>
                <a:ea typeface="Meiryo" pitchFamily="34" charset="-122"/>
                <a:cs typeface="Meiryo" pitchFamily="34" charset="-120"/>
              </a:rPr>
              <a:t>筐体設計・3Dプリントは地引が担当した。アンケートにご協力いただいた皆様に感謝します。</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2026-08-19T22:41:25Z</dcterms:created>
  <dcterms:modified xsi:type="dcterms:W3CDTF">2026-08-19T22:41:25Z</dcterms:modified>
</cp:coreProperties>
</file>