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4A554C"/>
                </a:solidFill>
                <a:latin typeface="Meiryo"/>
              </a:defRPr>
            </a:pPr>
            <a:r>
              <a:rPr sz="1700" b="0" i="0" u="none" strike="noStrike">
                <a:solidFill>
                  <a:srgbClr val="4A554C"/>
                </a:solidFill>
                <a:latin typeface="Meiryo"/>
              </a:rPr>
              <a:t>図 1　一世帯当たり「園芸用植物」年間支出額の推移 [1]。2022 年をピークに約 16% 減少している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園芸用植物 年間支出額（円）</c:v>
                </c:pt>
              </c:strCache>
            </c:strRef>
          </c:tx>
          <c:spPr>
            <a:solidFill>
              <a:srgbClr val="2C5F2D"/>
            </a:solidFill>
            <a:ln w="6350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3158</c:v>
                </c:pt>
                <c:pt idx="1">
                  <c:v>3068</c:v>
                </c:pt>
                <c:pt idx="2">
                  <c:v>3226</c:v>
                </c:pt>
                <c:pt idx="3">
                  <c:v>3370</c:v>
                </c:pt>
                <c:pt idx="4">
                  <c:v>3476</c:v>
                </c:pt>
                <c:pt idx="5">
                  <c:v>3301</c:v>
                </c:pt>
                <c:pt idx="6">
                  <c:v>2922</c:v>
                </c:pt>
                <c:pt idx="7">
                  <c:v>2963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4A554C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2700"/>
        </c:scaling>
        <c:delete val="0"/>
        <c:axPos val="l"/>
        <c:majorGridlines>
          <c:spPr>
            <a:ln w="12700" cap="flat">
              <a:solidFill>
                <a:srgbClr val="D3DE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4A554C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D3DEC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jpe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572000"/>
          </a:xfrm>
          <a:prstGeom prst="rect">
            <a:avLst/>
          </a:prstGeom>
          <a:solidFill>
            <a:srgbClr val="0E2A1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94360"/>
            <a:ext cx="2048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PlanterAI ― 植物が自ら語りかけるスマートプランター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1051560" y="2468880"/>
            <a:ext cx="2048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判定は決定論、表現だけを AI に委ねる ／ 測るだけの装置から、自ら語りかける相棒へ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1945600" y="548640"/>
            <a:ext cx="30175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7B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945600" y="5486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QR コード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 × 3.3 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94560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デモ動画を見る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30275784" cy="1234440"/>
          </a:xfrm>
          <a:prstGeom prst="rect">
            <a:avLst/>
          </a:prstGeom>
          <a:solidFill>
            <a:srgbClr val="E2EFD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572000"/>
            <a:ext cx="2825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電気通信大学 情報理工学域 II 類　</a:t>
            </a:r>
            <a:pPr indent="0" marL="0">
              <a:buNone/>
            </a:pPr>
            <a:r>
              <a:rPr lang="en-US" sz="2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中村 耕介（先端ロボティクスプログラム 3 年）・地引 宙翔（電子情報学プログラム 3 年）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1760" y="411480"/>
            <a:ext cx="3758184" cy="44256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05840" y="6675120"/>
            <a:ext cx="13716000" cy="16916400"/>
          </a:xfrm>
          <a:prstGeom prst="rect">
            <a:avLst/>
          </a:prstGeom>
          <a:solidFill>
            <a:srgbClr val="FFFFFF"/>
          </a:solidFill>
          <a:ln w="31750">
            <a:solidFill>
              <a:srgbClr val="D3DE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6108192"/>
            <a:ext cx="12801600" cy="1417320"/>
          </a:xfrm>
          <a:prstGeom prst="roundRect">
            <a:avLst>
              <a:gd name="adj" fmla="val 18065"/>
            </a:avLst>
          </a:prstGeom>
          <a:solidFill>
            <a:srgbClr val="1A4526"/>
          </a:solidFill>
          <a:ln/>
        </p:spPr>
      </p:sp>
      <p:sp>
        <p:nvSpPr>
          <p:cNvPr id="13" name="Text 10"/>
          <p:cNvSpPr/>
          <p:nvPr/>
        </p:nvSpPr>
        <p:spPr>
          <a:xfrm>
            <a:off x="1463040" y="6108192"/>
            <a:ext cx="1280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　</a:t>
            </a:r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1645920" y="7772400"/>
            <a:ext cx="1243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植物のサインは、人間には読み取れない</a:t>
            </a:r>
            <a:endParaRPr lang="en-US" sz="3100" dirty="0"/>
          </a:p>
        </p:txBody>
      </p:sp>
      <p:sp>
        <p:nvSpPr>
          <p:cNvPr id="15" name="Shape 12"/>
          <p:cNvSpPr/>
          <p:nvPr/>
        </p:nvSpPr>
        <p:spPr>
          <a:xfrm>
            <a:off x="1719072" y="8641080"/>
            <a:ext cx="3998976" cy="2926080"/>
          </a:xfrm>
          <a:prstGeom prst="rect">
            <a:avLst/>
          </a:prstGeom>
          <a:solidFill>
            <a:srgbClr val="EEF3E9"/>
          </a:solidFill>
          <a:ln/>
        </p:spPr>
      </p:sp>
      <p:sp>
        <p:nvSpPr>
          <p:cNvPr id="16" name="Text 13"/>
          <p:cNvSpPr/>
          <p:nvPr/>
        </p:nvSpPr>
        <p:spPr>
          <a:xfrm>
            <a:off x="1719072" y="8732520"/>
            <a:ext cx="3998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89%</a:t>
            </a:r>
            <a:endParaRPr lang="en-US" sz="7000" dirty="0"/>
          </a:p>
        </p:txBody>
      </p:sp>
      <p:sp>
        <p:nvSpPr>
          <p:cNvPr id="17" name="Text 14"/>
          <p:cNvSpPr/>
          <p:nvPr/>
        </p:nvSpPr>
        <p:spPr>
          <a:xfrm>
            <a:off x="1719072" y="10149840"/>
            <a:ext cx="3998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が枯死を経験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719072" y="10835640"/>
            <a:ext cx="3998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育成経験者 61 名中 54 名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864352" y="8641080"/>
            <a:ext cx="3998976" cy="2926080"/>
          </a:xfrm>
          <a:prstGeom prst="rect">
            <a:avLst/>
          </a:prstGeom>
          <a:solidFill>
            <a:srgbClr val="EEF3E9"/>
          </a:solidFill>
          <a:ln/>
        </p:spPr>
      </p:sp>
      <p:sp>
        <p:nvSpPr>
          <p:cNvPr id="20" name="Text 17"/>
          <p:cNvSpPr/>
          <p:nvPr/>
        </p:nvSpPr>
        <p:spPr>
          <a:xfrm>
            <a:off x="5864352" y="8732520"/>
            <a:ext cx="3998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78%</a:t>
            </a:r>
            <a:endParaRPr lang="en-US" sz="7000" dirty="0"/>
          </a:p>
        </p:txBody>
      </p:sp>
      <p:sp>
        <p:nvSpPr>
          <p:cNvPr id="21" name="Text 18"/>
          <p:cNvSpPr/>
          <p:nvPr/>
        </p:nvSpPr>
        <p:spPr>
          <a:xfrm>
            <a:off x="5864352" y="10149840"/>
            <a:ext cx="3998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が手遅れで気づいた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864352" y="10835640"/>
            <a:ext cx="3998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枯死経験者 54 名中 42 名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009632" y="8641080"/>
            <a:ext cx="3998976" cy="2926080"/>
          </a:xfrm>
          <a:prstGeom prst="rect">
            <a:avLst/>
          </a:prstGeom>
          <a:solidFill>
            <a:srgbClr val="EEF3E9"/>
          </a:solidFill>
          <a:ln/>
        </p:spPr>
      </p:sp>
      <p:sp>
        <p:nvSpPr>
          <p:cNvPr id="24" name="Text 21"/>
          <p:cNvSpPr/>
          <p:nvPr/>
        </p:nvSpPr>
        <p:spPr>
          <a:xfrm>
            <a:off x="10009632" y="8732520"/>
            <a:ext cx="3998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2.05</a:t>
            </a:r>
            <a:endParaRPr lang="en-US" sz="7000" dirty="0"/>
          </a:p>
        </p:txBody>
      </p:sp>
      <p:sp>
        <p:nvSpPr>
          <p:cNvPr id="25" name="Text 22"/>
          <p:cNvSpPr/>
          <p:nvPr/>
        </p:nvSpPr>
        <p:spPr>
          <a:xfrm>
            <a:off x="10009632" y="10149840"/>
            <a:ext cx="3998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見た目判断の自信 / 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009632" y="10835640"/>
            <a:ext cx="3998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自信が低い人が 74%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645920" y="11612880"/>
            <a:ext cx="1243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独自調査 N = 83（2026 年 7 月／10〜20 代 80%・学生 76%）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645920" y="1225296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育成をやめた・始めない理由 上位 3 つ（複数選択, N=83）</a:t>
            </a:r>
            <a:endParaRPr lang="en-US" sz="2500" dirty="0"/>
          </a:p>
        </p:txBody>
      </p:sp>
      <p:sp>
        <p:nvSpPr>
          <p:cNvPr id="29" name="Text 26"/>
          <p:cNvSpPr/>
          <p:nvPr/>
        </p:nvSpPr>
        <p:spPr>
          <a:xfrm>
            <a:off x="1645920" y="12893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旅行・外出時に世話ができない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235440" y="13075920"/>
            <a:ext cx="3657600" cy="365760"/>
          </a:xfrm>
          <a:prstGeom prst="rect">
            <a:avLst/>
          </a:prstGeom>
          <a:solidFill>
            <a:srgbClr val="E2EFD6"/>
          </a:solidFill>
          <a:ln/>
        </p:spPr>
      </p:sp>
      <p:sp>
        <p:nvSpPr>
          <p:cNvPr id="31" name="Shape 28"/>
          <p:cNvSpPr/>
          <p:nvPr/>
        </p:nvSpPr>
        <p:spPr>
          <a:xfrm>
            <a:off x="9235440" y="13075920"/>
            <a:ext cx="3438144" cy="36576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32" name="Text 29"/>
          <p:cNvSpPr/>
          <p:nvPr/>
        </p:nvSpPr>
        <p:spPr>
          <a:xfrm>
            <a:off x="12984480" y="1289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47%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645920" y="13761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日当たり・置き場所が分からない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9235440" y="13944600"/>
            <a:ext cx="3657600" cy="365760"/>
          </a:xfrm>
          <a:prstGeom prst="rect">
            <a:avLst/>
          </a:prstGeom>
          <a:solidFill>
            <a:srgbClr val="E2EFD6"/>
          </a:solidFill>
          <a:ln/>
        </p:spPr>
      </p:sp>
      <p:sp>
        <p:nvSpPr>
          <p:cNvPr id="35" name="Shape 32"/>
          <p:cNvSpPr/>
          <p:nvPr/>
        </p:nvSpPr>
        <p:spPr>
          <a:xfrm>
            <a:off x="9235440" y="13944600"/>
            <a:ext cx="3364992" cy="36576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36" name="Text 33"/>
          <p:cNvSpPr/>
          <p:nvPr/>
        </p:nvSpPr>
        <p:spPr>
          <a:xfrm>
            <a:off x="12984480" y="13761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46%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645920" y="14630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異変に気づけない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9235440" y="14813280"/>
            <a:ext cx="3657600" cy="365760"/>
          </a:xfrm>
          <a:prstGeom prst="rect">
            <a:avLst/>
          </a:prstGeom>
          <a:solidFill>
            <a:srgbClr val="E2EFD6"/>
          </a:solidFill>
          <a:ln/>
        </p:spPr>
      </p:sp>
      <p:sp>
        <p:nvSpPr>
          <p:cNvPr id="39" name="Shape 36"/>
          <p:cNvSpPr/>
          <p:nvPr/>
        </p:nvSpPr>
        <p:spPr>
          <a:xfrm>
            <a:off x="9235440" y="14813280"/>
            <a:ext cx="3072384" cy="36576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40" name="Text 37"/>
          <p:cNvSpPr/>
          <p:nvPr/>
        </p:nvSpPr>
        <p:spPr>
          <a:xfrm>
            <a:off x="12984480" y="1463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42%</a:t>
            </a:r>
            <a:endParaRPr lang="en-US" sz="2100" dirty="0"/>
          </a:p>
        </p:txBody>
      </p:sp>
      <p:sp>
        <p:nvSpPr>
          <p:cNvPr id="41" name="Text 38"/>
          <p:cNvSpPr/>
          <p:nvPr/>
        </p:nvSpPr>
        <p:spPr>
          <a:xfrm>
            <a:off x="1645920" y="15544800"/>
            <a:ext cx="1243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いずれも、その場に居なければ解けない障壁である</a:t>
            </a:r>
            <a:endParaRPr lang="en-US" sz="1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1645920" y="16139160"/>
          <a:ext cx="12435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Text 39"/>
          <p:cNvSpPr/>
          <p:nvPr/>
        </p:nvSpPr>
        <p:spPr>
          <a:xfrm>
            <a:off x="1645920" y="19933920"/>
            <a:ext cx="1243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既存のスマートプランターの限界</a:t>
            </a:r>
            <a:endParaRPr lang="en-US" sz="2500" dirty="0"/>
          </a:p>
        </p:txBody>
      </p:sp>
      <p:sp>
        <p:nvSpPr>
          <p:cNvPr id="44" name="Text 40"/>
          <p:cNvSpPr/>
          <p:nvPr/>
        </p:nvSpPr>
        <p:spPr>
          <a:xfrm>
            <a:off x="1645920" y="20574000"/>
            <a:ext cx="12435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Lua（Mu Design）</a:t>
            </a:r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：15 種の表情を持つが本体表示のみ。留守中は届かない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Xiaomi Smart Flower Pot</a:t>
            </a:r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：アプリに届くが、数値とグラフのまま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0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自動水やり機</a:t>
            </a:r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：世話は代行するが、状態を伝えない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1645920" y="21899880"/>
            <a:ext cx="12435840" cy="1143000"/>
          </a:xfrm>
          <a:prstGeom prst="rect">
            <a:avLst/>
          </a:prstGeom>
          <a:solidFill>
            <a:srgbClr val="FBEAE7"/>
          </a:solidFill>
          <a:ln/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2174200"/>
            <a:ext cx="594360" cy="59436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2743200" y="21899880"/>
            <a:ext cx="11109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0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「ユーザーが見に行く」前提の製品では、沈黙死は防げない</a:t>
            </a:r>
            <a:endParaRPr lang="en-US" sz="2400" dirty="0"/>
          </a:p>
        </p:txBody>
      </p:sp>
      <p:sp>
        <p:nvSpPr>
          <p:cNvPr id="48" name="Shape 43"/>
          <p:cNvSpPr/>
          <p:nvPr/>
        </p:nvSpPr>
        <p:spPr>
          <a:xfrm>
            <a:off x="15553944" y="6675120"/>
            <a:ext cx="13716000" cy="16916400"/>
          </a:xfrm>
          <a:prstGeom prst="rect">
            <a:avLst/>
          </a:prstGeom>
          <a:solidFill>
            <a:srgbClr val="FFFFFF"/>
          </a:solidFill>
          <a:ln w="31750">
            <a:solidFill>
              <a:srgbClr val="D3DEC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6011144" y="6108192"/>
            <a:ext cx="12801600" cy="1417320"/>
          </a:xfrm>
          <a:prstGeom prst="roundRect">
            <a:avLst>
              <a:gd name="adj" fmla="val 18065"/>
            </a:avLst>
          </a:prstGeom>
          <a:solidFill>
            <a:srgbClr val="1A4526"/>
          </a:solidFill>
          <a:ln/>
        </p:spPr>
      </p:sp>
      <p:sp>
        <p:nvSpPr>
          <p:cNvPr id="50" name="Text 45"/>
          <p:cNvSpPr/>
          <p:nvPr/>
        </p:nvSpPr>
        <p:spPr>
          <a:xfrm>
            <a:off x="16011144" y="6108192"/>
            <a:ext cx="1280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　</a:t>
            </a:r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3800" dirty="0"/>
          </a:p>
        </p:txBody>
      </p:sp>
      <p:sp>
        <p:nvSpPr>
          <p:cNvPr id="51" name="Shape 46"/>
          <p:cNvSpPr/>
          <p:nvPr/>
        </p:nvSpPr>
        <p:spPr>
          <a:xfrm>
            <a:off x="16194024" y="7818120"/>
            <a:ext cx="12435840" cy="187452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52" name="Text 47"/>
          <p:cNvSpPr/>
          <p:nvPr/>
        </p:nvSpPr>
        <p:spPr>
          <a:xfrm>
            <a:off x="16194024" y="7818120"/>
            <a:ext cx="12435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ユーザーが見に行くのではなく、植物のほうから届く</a:t>
            </a:r>
            <a:endParaRPr lang="en-US" sz="330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4024" y="9966960"/>
            <a:ext cx="5120640" cy="6574536"/>
          </a:xfrm>
          <a:prstGeom prst="rect">
            <a:avLst/>
          </a:prstGeom>
        </p:spPr>
      </p:pic>
      <p:sp>
        <p:nvSpPr>
          <p:cNvPr id="54" name="Shape 48"/>
          <p:cNvSpPr/>
          <p:nvPr/>
        </p:nvSpPr>
        <p:spPr>
          <a:xfrm>
            <a:off x="16194024" y="16687800"/>
            <a:ext cx="5120640" cy="1051560"/>
          </a:xfrm>
          <a:prstGeom prst="rect">
            <a:avLst/>
          </a:prstGeom>
          <a:solidFill>
            <a:srgbClr val="EEF3E9"/>
          </a:solidFill>
          <a:ln/>
        </p:spPr>
      </p:sp>
      <p:sp>
        <p:nvSpPr>
          <p:cNvPr id="55" name="Text 49"/>
          <p:cNvSpPr/>
          <p:nvPr/>
        </p:nvSpPr>
        <p:spPr>
          <a:xfrm>
            <a:off x="16422624" y="166878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日照不足を自ら訴え、返信すると応答する</a:t>
            </a:r>
            <a:endParaRPr lang="en-US" sz="1700" dirty="0"/>
          </a:p>
        </p:txBody>
      </p:sp>
      <p:sp>
        <p:nvSpPr>
          <p:cNvPr id="56" name="Shape 50"/>
          <p:cNvSpPr/>
          <p:nvPr/>
        </p:nvSpPr>
        <p:spPr>
          <a:xfrm>
            <a:off x="21588984" y="9966960"/>
            <a:ext cx="7040880" cy="2468880"/>
          </a:xfrm>
          <a:prstGeom prst="rect">
            <a:avLst/>
          </a:prstGeom>
          <a:solidFill>
            <a:srgbClr val="EEF3E9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9024" y="10287000"/>
            <a:ext cx="777240" cy="77724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22777704" y="10222992"/>
            <a:ext cx="5623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状態が変わった瞬間だけ話しかける</a:t>
            </a:r>
            <a:endParaRPr lang="en-US" sz="2200" dirty="0"/>
          </a:p>
        </p:txBody>
      </p:sp>
      <p:sp>
        <p:nvSpPr>
          <p:cNvPr id="59" name="Text 52"/>
          <p:cNvSpPr/>
          <p:nvPr/>
        </p:nvSpPr>
        <p:spPr>
          <a:xfrm>
            <a:off x="21909024" y="11173968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定期通知はしない。同じ状態が続く間は黙るので、通知疲れによる無視が起きない</a:t>
            </a:r>
            <a:endParaRPr lang="en-US" sz="1800" dirty="0"/>
          </a:p>
        </p:txBody>
      </p:sp>
      <p:sp>
        <p:nvSpPr>
          <p:cNvPr id="60" name="Shape 53"/>
          <p:cNvSpPr/>
          <p:nvPr/>
        </p:nvSpPr>
        <p:spPr>
          <a:xfrm>
            <a:off x="21588984" y="12618720"/>
            <a:ext cx="7040880" cy="2468880"/>
          </a:xfrm>
          <a:prstGeom prst="rect">
            <a:avLst/>
          </a:prstGeom>
          <a:solidFill>
            <a:srgbClr val="EEF3E9"/>
          </a:solidFill>
          <a:ln/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9024" y="12938760"/>
            <a:ext cx="777240" cy="77724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22777704" y="12874752"/>
            <a:ext cx="5623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 OLED の表情で、スマホなしでも伝わる</a:t>
            </a:r>
            <a:endParaRPr lang="en-US" sz="2200" dirty="0"/>
          </a:p>
        </p:txBody>
      </p:sp>
      <p:sp>
        <p:nvSpPr>
          <p:cNvPr id="63" name="Text 55"/>
          <p:cNvSpPr/>
          <p:nvPr/>
        </p:nvSpPr>
        <p:spPr>
          <a:xfrm>
            <a:off x="21909024" y="13825728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手続き的アニメーションで顔を生成。物理的な「顔」が植物に身体性を与える</a:t>
            </a:r>
            <a:endParaRPr lang="en-US" sz="1800" dirty="0"/>
          </a:p>
        </p:txBody>
      </p:sp>
      <p:sp>
        <p:nvSpPr>
          <p:cNvPr id="64" name="Shape 56"/>
          <p:cNvSpPr/>
          <p:nvPr/>
        </p:nvSpPr>
        <p:spPr>
          <a:xfrm>
            <a:off x="21588984" y="15270480"/>
            <a:ext cx="7040880" cy="2468880"/>
          </a:xfrm>
          <a:prstGeom prst="rect">
            <a:avLst/>
          </a:prstGeom>
          <a:solidFill>
            <a:srgbClr val="EEF3E9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9024" y="15590520"/>
            <a:ext cx="777240" cy="77724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22777704" y="15526512"/>
            <a:ext cx="5623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返信すると、答えが返ってくる</a:t>
            </a:r>
            <a:endParaRPr lang="en-US" sz="2200" dirty="0"/>
          </a:p>
        </p:txBody>
      </p:sp>
      <p:sp>
        <p:nvSpPr>
          <p:cNvPr id="67" name="Text 58"/>
          <p:cNvSpPr/>
          <p:nvPr/>
        </p:nvSpPr>
        <p:spPr>
          <a:xfrm>
            <a:off x="21909024" y="16477488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で話しかけると応答する。ただし状態は再判定せず、確定済みの判定だけを参照する</a:t>
            </a:r>
            <a:endParaRPr lang="en-US" sz="1800" dirty="0"/>
          </a:p>
        </p:txBody>
      </p:sp>
      <p:sp>
        <p:nvSpPr>
          <p:cNvPr id="68" name="Text 59"/>
          <p:cNvSpPr/>
          <p:nvPr/>
        </p:nvSpPr>
        <p:spPr>
          <a:xfrm>
            <a:off x="16194024" y="17967960"/>
            <a:ext cx="1243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既存製品との比較</a:t>
            </a:r>
            <a:endParaRPr lang="en-US" sz="2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194024" y="18608040"/>
          <a:ext cx="124358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536192"/>
                <a:gridCol w="1536192"/>
                <a:gridCol w="1536192"/>
                <a:gridCol w="1536192"/>
                <a:gridCol w="153619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状態を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測る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遠隔で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届く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擬人化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された身体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文脈の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ある対話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発話の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信頼性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2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Lua（Mu Design）</a:t>
                      </a:r>
                      <a:endParaRPr lang="en-US" sz="1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Xiaomi Smart Flower Pot</a:t>
                      </a:r>
                      <a:endParaRPr lang="en-US" sz="1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自動水やり機</a:t>
                      </a:r>
                      <a:endParaRPr lang="en-US" sz="1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 直結型（後発が取る構成）</a:t>
                      </a:r>
                      <a:endParaRPr lang="en-US" sz="1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B440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A45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PlanterAI（本提案）</a:t>
                      </a:r>
                      <a:endParaRPr lang="en-US" sz="1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2A34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2C5F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2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3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" name="Text 60"/>
          <p:cNvSpPr/>
          <p:nvPr/>
        </p:nvSpPr>
        <p:spPr>
          <a:xfrm>
            <a:off x="16194024" y="22448520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 LLM を繋ぐだけの構成と、決定的に分かれるのは「発話の信頼性」</a:t>
            </a:r>
            <a:endParaRPr lang="en-US" sz="2200" dirty="0"/>
          </a:p>
        </p:txBody>
      </p:sp>
      <p:sp>
        <p:nvSpPr>
          <p:cNvPr id="71" name="Shape 61"/>
          <p:cNvSpPr/>
          <p:nvPr/>
        </p:nvSpPr>
        <p:spPr>
          <a:xfrm>
            <a:off x="1005840" y="24780240"/>
            <a:ext cx="13716000" cy="16916400"/>
          </a:xfrm>
          <a:prstGeom prst="rect">
            <a:avLst/>
          </a:prstGeom>
          <a:solidFill>
            <a:srgbClr val="FFFFFF"/>
          </a:solidFill>
          <a:ln w="31750">
            <a:solidFill>
              <a:srgbClr val="D3DECB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1463040" y="24213312"/>
            <a:ext cx="12801600" cy="1417320"/>
          </a:xfrm>
          <a:prstGeom prst="roundRect">
            <a:avLst>
              <a:gd name="adj" fmla="val 18065"/>
            </a:avLst>
          </a:prstGeom>
          <a:solidFill>
            <a:srgbClr val="1A4526"/>
          </a:solidFill>
          <a:ln/>
        </p:spPr>
      </p:sp>
      <p:sp>
        <p:nvSpPr>
          <p:cNvPr id="73" name="Text 63"/>
          <p:cNvSpPr/>
          <p:nvPr/>
        </p:nvSpPr>
        <p:spPr>
          <a:xfrm>
            <a:off x="1463040" y="24213312"/>
            <a:ext cx="1280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　</a:t>
            </a:r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</a:t>
            </a:r>
            <a:endParaRPr lang="en-US" sz="3800" dirty="0"/>
          </a:p>
        </p:txBody>
      </p:sp>
      <p:sp>
        <p:nvSpPr>
          <p:cNvPr id="74" name="Text 64"/>
          <p:cNvSpPr/>
          <p:nvPr/>
        </p:nvSpPr>
        <p:spPr>
          <a:xfrm>
            <a:off x="1645920" y="25831800"/>
            <a:ext cx="1243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判定は決定論、表現だけを LLM に委ねる 3 層構造</a:t>
            </a:r>
            <a:endParaRPr lang="en-US" sz="2900" dirty="0"/>
          </a:p>
        </p:txBody>
      </p:sp>
      <p:sp>
        <p:nvSpPr>
          <p:cNvPr id="75" name="Shape 65"/>
          <p:cNvSpPr/>
          <p:nvPr/>
        </p:nvSpPr>
        <p:spPr>
          <a:xfrm>
            <a:off x="1645920" y="26654760"/>
            <a:ext cx="12435840" cy="1828800"/>
          </a:xfrm>
          <a:prstGeom prst="rect">
            <a:avLst/>
          </a:prstGeom>
          <a:solidFill>
            <a:srgbClr val="EEF3E9"/>
          </a:solidFill>
          <a:ln w="19050">
            <a:solidFill>
              <a:srgbClr val="7FAE55"/>
            </a:solidFill>
            <a:prstDash val="solid"/>
          </a:ln>
        </p:spPr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27111960"/>
            <a:ext cx="822960" cy="822960"/>
          </a:xfrm>
          <a:prstGeom prst="rect">
            <a:avLst/>
          </a:prstGeom>
        </p:spPr>
      </p:pic>
      <p:sp>
        <p:nvSpPr>
          <p:cNvPr id="77" name="Text 66"/>
          <p:cNvSpPr/>
          <p:nvPr/>
        </p:nvSpPr>
        <p:spPr>
          <a:xfrm>
            <a:off x="3108960" y="2676448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1　正規化</a:t>
            </a:r>
            <a:endParaRPr lang="en-US" sz="2300" dirty="0"/>
          </a:p>
        </p:txBody>
      </p:sp>
      <p:sp>
        <p:nvSpPr>
          <p:cNvPr id="78" name="Text 67"/>
          <p:cNvSpPr/>
          <p:nvPr/>
        </p:nvSpPr>
        <p:spPr>
          <a:xfrm>
            <a:off x="3108960" y="273862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センサー生値 → 中央値フィルタ（窓 5）→ 快適スコア 0〜100。土壌水分・気温・照度・空気湿度の 4 軸</a:t>
            </a:r>
            <a:endParaRPr lang="en-US" sz="1900" dirty="0"/>
          </a:p>
        </p:txBody>
      </p:sp>
      <p:sp>
        <p:nvSpPr>
          <p:cNvPr id="79" name="Shape 68"/>
          <p:cNvSpPr/>
          <p:nvPr/>
        </p:nvSpPr>
        <p:spPr>
          <a:xfrm>
            <a:off x="1645920" y="28712160"/>
            <a:ext cx="12435840" cy="1828800"/>
          </a:xfrm>
          <a:prstGeom prst="rect">
            <a:avLst/>
          </a:prstGeom>
          <a:solidFill>
            <a:srgbClr val="E2EFD6"/>
          </a:solidFill>
          <a:ln w="19050">
            <a:solidFill>
              <a:srgbClr val="7FAE55"/>
            </a:solidFill>
            <a:prstDash val="solid"/>
          </a:ln>
        </p:spPr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29169360"/>
            <a:ext cx="822960" cy="82296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3108960" y="2882188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2　感情エンジン</a:t>
            </a:r>
            <a:endParaRPr lang="en-US" sz="2300" dirty="0"/>
          </a:p>
        </p:txBody>
      </p:sp>
      <p:sp>
        <p:nvSpPr>
          <p:cNvPr id="82" name="Text 70"/>
          <p:cNvSpPr/>
          <p:nvPr/>
        </p:nvSpPr>
        <p:spPr>
          <a:xfrm>
            <a:off x="3108960" y="294436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ルールベース 25 パターン表。感情・主訴・緊急度・継続時間を決定論的に確定する</a:t>
            </a:r>
            <a:endParaRPr lang="en-US" sz="1900" dirty="0"/>
          </a:p>
        </p:txBody>
      </p:sp>
      <p:sp>
        <p:nvSpPr>
          <p:cNvPr id="83" name="Shape 71"/>
          <p:cNvSpPr/>
          <p:nvPr/>
        </p:nvSpPr>
        <p:spPr>
          <a:xfrm>
            <a:off x="5029200" y="30815280"/>
            <a:ext cx="6583680" cy="777240"/>
          </a:xfrm>
          <a:prstGeom prst="roundRect">
            <a:avLst>
              <a:gd name="adj" fmla="val 23529"/>
            </a:avLst>
          </a:prstGeom>
          <a:solidFill>
            <a:srgbClr val="D9822B"/>
          </a:solidFill>
          <a:ln/>
        </p:spPr>
      </p:sp>
      <p:sp>
        <p:nvSpPr>
          <p:cNvPr id="84" name="Text 72"/>
          <p:cNvSpPr/>
          <p:nvPr/>
        </p:nvSpPr>
        <p:spPr>
          <a:xfrm>
            <a:off x="5029200" y="30815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 JSON（生の数値はこの先へ流れない）</a:t>
            </a:r>
            <a:endParaRPr lang="en-US" sz="1900" dirty="0"/>
          </a:p>
        </p:txBody>
      </p:sp>
      <p:sp>
        <p:nvSpPr>
          <p:cNvPr id="85" name="Shape 73"/>
          <p:cNvSpPr/>
          <p:nvPr/>
        </p:nvSpPr>
        <p:spPr>
          <a:xfrm>
            <a:off x="1645920" y="31821120"/>
            <a:ext cx="6080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5960" y="32049720"/>
            <a:ext cx="685800" cy="685800"/>
          </a:xfrm>
          <a:prstGeom prst="rect">
            <a:avLst/>
          </a:prstGeom>
        </p:spPr>
      </p:pic>
      <p:sp>
        <p:nvSpPr>
          <p:cNvPr id="87" name="Text 74"/>
          <p:cNvSpPr/>
          <p:nvPr/>
        </p:nvSpPr>
        <p:spPr>
          <a:xfrm>
            <a:off x="2788920" y="32004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3a　言語</a:t>
            </a:r>
            <a:endParaRPr lang="en-US" sz="2200" dirty="0"/>
          </a:p>
        </p:txBody>
      </p:sp>
      <p:sp>
        <p:nvSpPr>
          <p:cNvPr id="88" name="Text 75"/>
          <p:cNvSpPr/>
          <p:nvPr/>
        </p:nvSpPr>
        <p:spPr>
          <a:xfrm>
            <a:off x="1965960" y="328726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Flash が口調に変換し、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でプッシュ通知・返信</a:t>
            </a:r>
            <a:endParaRPr lang="en-US" sz="1800" dirty="0"/>
          </a:p>
        </p:txBody>
      </p:sp>
      <p:sp>
        <p:nvSpPr>
          <p:cNvPr id="89" name="Shape 76"/>
          <p:cNvSpPr/>
          <p:nvPr/>
        </p:nvSpPr>
        <p:spPr>
          <a:xfrm>
            <a:off x="8001000" y="31821120"/>
            <a:ext cx="6080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32049720"/>
            <a:ext cx="685800" cy="685800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9144000" y="32004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3b　視覚</a:t>
            </a:r>
            <a:endParaRPr lang="en-US" sz="2200" dirty="0"/>
          </a:p>
        </p:txBody>
      </p:sp>
      <p:sp>
        <p:nvSpPr>
          <p:cNvPr id="92" name="Text 78"/>
          <p:cNvSpPr/>
          <p:nvPr/>
        </p:nvSpPr>
        <p:spPr>
          <a:xfrm>
            <a:off x="8321040" y="328726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手続き的アニメーションが顔を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生成し、本体 OLED に表示</a:t>
            </a:r>
            <a:endParaRPr lang="en-US" sz="1800" dirty="0"/>
          </a:p>
        </p:txBody>
      </p:sp>
      <p:sp>
        <p:nvSpPr>
          <p:cNvPr id="93" name="Text 79"/>
          <p:cNvSpPr/>
          <p:nvPr/>
        </p:nvSpPr>
        <p:spPr>
          <a:xfrm>
            <a:off x="1645920" y="3410712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3b が生成する表情（実機 OLED 128×64 のフレーム）</a:t>
            </a:r>
            <a:endParaRPr lang="en-US" sz="2200" dirty="0"/>
          </a:p>
        </p:txBody>
      </p:sp>
      <p:pic>
        <p:nvPicPr>
          <p:cNvPr id="94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5920" y="34655760"/>
            <a:ext cx="12435840" cy="1907045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1645920" y="3662172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同じ確定状態から言語と表情が生成される ― だからセリフと顔が食い違わない</a:t>
            </a:r>
            <a:endParaRPr lang="en-US" sz="1900" dirty="0"/>
          </a:p>
        </p:txBody>
      </p:sp>
      <p:sp>
        <p:nvSpPr>
          <p:cNvPr id="96" name="Text 81"/>
          <p:cNvSpPr/>
          <p:nvPr/>
        </p:nvSpPr>
        <p:spPr>
          <a:xfrm>
            <a:off x="1645920" y="37216080"/>
            <a:ext cx="1243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実装環境</a:t>
            </a:r>
            <a:endParaRPr lang="en-US" sz="2500" dirty="0"/>
          </a:p>
        </p:txBody>
      </p:sp>
      <p:sp>
        <p:nvSpPr>
          <p:cNvPr id="97" name="Text 82"/>
          <p:cNvSpPr/>
          <p:nvPr/>
        </p:nvSpPr>
        <p:spPr>
          <a:xfrm>
            <a:off x="1645920" y="37856160"/>
            <a:ext cx="12435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　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ESP32-DevKitC、SEN0193（土壌水分）、BME280（温湿度・気圧）、TSL2591（照度）、SH1106 OLED 128×64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　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 Edge Functions（Deno / TypeScript）、Gemini Flash、LINE Messaging API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対象植物　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カラテア（キャラクター名「カラ美」）。照度の閾値は 2 週間の実測で確定、湿度・水分は較正中</a:t>
            </a:r>
            <a:endParaRPr lang="en-US" sz="1900" dirty="0"/>
          </a:p>
        </p:txBody>
      </p:sp>
      <p:sp>
        <p:nvSpPr>
          <p:cNvPr id="98" name="Shape 83"/>
          <p:cNvSpPr/>
          <p:nvPr/>
        </p:nvSpPr>
        <p:spPr>
          <a:xfrm>
            <a:off x="1645920" y="40462200"/>
            <a:ext cx="12435840" cy="1097280"/>
          </a:xfrm>
          <a:prstGeom prst="rect">
            <a:avLst/>
          </a:prstGeom>
          <a:solidFill>
            <a:srgbClr val="E2EFD6"/>
          </a:solidFill>
          <a:ln/>
        </p:spPr>
      </p:sp>
      <p:sp>
        <p:nvSpPr>
          <p:cNvPr id="99" name="Text 84"/>
          <p:cNvSpPr/>
          <p:nvPr/>
        </p:nvSpPr>
        <p:spPr>
          <a:xfrm>
            <a:off x="1645920" y="40462200"/>
            <a:ext cx="1243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に解釈をさせず、ルールベースで「どう言うか」だけを決める</a:t>
            </a:r>
            <a:endParaRPr lang="en-US" sz="2200" dirty="0"/>
          </a:p>
        </p:txBody>
      </p:sp>
      <p:sp>
        <p:nvSpPr>
          <p:cNvPr id="100" name="Shape 85"/>
          <p:cNvSpPr/>
          <p:nvPr/>
        </p:nvSpPr>
        <p:spPr>
          <a:xfrm>
            <a:off x="15553944" y="24780240"/>
            <a:ext cx="13716000" cy="16916400"/>
          </a:xfrm>
          <a:prstGeom prst="rect">
            <a:avLst/>
          </a:prstGeom>
          <a:solidFill>
            <a:srgbClr val="FFFFFF"/>
          </a:solidFill>
          <a:ln w="31750">
            <a:solidFill>
              <a:srgbClr val="D3DECB"/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16011144" y="24213312"/>
            <a:ext cx="12801600" cy="1417320"/>
          </a:xfrm>
          <a:prstGeom prst="roundRect">
            <a:avLst>
              <a:gd name="adj" fmla="val 18065"/>
            </a:avLst>
          </a:prstGeom>
          <a:solidFill>
            <a:srgbClr val="1A4526"/>
          </a:solidFill>
          <a:ln/>
        </p:spPr>
      </p:sp>
      <p:sp>
        <p:nvSpPr>
          <p:cNvPr id="102" name="Text 87"/>
          <p:cNvSpPr/>
          <p:nvPr/>
        </p:nvSpPr>
        <p:spPr>
          <a:xfrm>
            <a:off x="16011144" y="24213312"/>
            <a:ext cx="1280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　</a:t>
            </a:r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結果と展望</a:t>
            </a:r>
            <a:endParaRPr lang="en-US" sz="3800" dirty="0"/>
          </a:p>
        </p:txBody>
      </p:sp>
      <p:sp>
        <p:nvSpPr>
          <p:cNvPr id="103" name="Shape 88"/>
          <p:cNvSpPr/>
          <p:nvPr/>
        </p:nvSpPr>
        <p:spPr>
          <a:xfrm>
            <a:off x="16194024" y="25831800"/>
            <a:ext cx="12435840" cy="1188720"/>
          </a:xfrm>
          <a:prstGeom prst="rect">
            <a:avLst/>
          </a:prstGeom>
          <a:solidFill>
            <a:srgbClr val="1A4526"/>
          </a:solidFill>
          <a:ln/>
        </p:spPr>
      </p:sp>
      <p:sp>
        <p:nvSpPr>
          <p:cNvPr id="104" name="Text 89"/>
          <p:cNvSpPr/>
          <p:nvPr/>
        </p:nvSpPr>
        <p:spPr>
          <a:xfrm>
            <a:off x="16194024" y="25831800"/>
            <a:ext cx="1243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プロトタイプは会場で稼働中 ― 計測から発話・表情までを実演します</a:t>
            </a:r>
            <a:endParaRPr lang="en-US" sz="2400" dirty="0"/>
          </a:p>
        </p:txBody>
      </p:sp>
      <p:sp>
        <p:nvSpPr>
          <p:cNvPr id="105" name="Text 90"/>
          <p:cNvSpPr/>
          <p:nvPr/>
        </p:nvSpPr>
        <p:spPr>
          <a:xfrm>
            <a:off x="16194024" y="27203400"/>
            <a:ext cx="1243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実機で発生した異常値でも、発話は破綻しなかった</a:t>
            </a:r>
            <a:endParaRPr lang="en-US" sz="2600" dirty="0"/>
          </a:p>
        </p:txBody>
      </p:sp>
      <p:sp>
        <p:nvSpPr>
          <p:cNvPr id="106" name="Text 91"/>
          <p:cNvSpPr/>
          <p:nvPr/>
        </p:nvSpPr>
        <p:spPr>
          <a:xfrm>
            <a:off x="16194024" y="27825192"/>
            <a:ext cx="1243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運用中に BME280 が間欠的にリセットし、固定異常値（180.1 ℃ / 湿度 100%）を返す事象が実際に発生した。</a:t>
            </a:r>
            <a:endParaRPr lang="en-US" sz="1900" dirty="0"/>
          </a:p>
        </p:txBody>
      </p:sp>
      <p:sp>
        <p:nvSpPr>
          <p:cNvPr id="107" name="Shape 92"/>
          <p:cNvSpPr/>
          <p:nvPr/>
        </p:nvSpPr>
        <p:spPr>
          <a:xfrm>
            <a:off x="16194024" y="28483560"/>
            <a:ext cx="12435840" cy="2148840"/>
          </a:xfrm>
          <a:prstGeom prst="rect">
            <a:avLst/>
          </a:prstGeom>
          <a:solidFill>
            <a:srgbClr val="FBEAE7"/>
          </a:solidFill>
          <a:ln/>
        </p:spPr>
      </p:sp>
      <p:pic>
        <p:nvPicPr>
          <p:cNvPr id="10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59784" y="28712160"/>
            <a:ext cx="621792" cy="621792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7364456" y="28648152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40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直結型（比較対象）</a:t>
            </a:r>
            <a:endParaRPr lang="en-US" sz="2300" dirty="0"/>
          </a:p>
        </p:txBody>
      </p:sp>
      <p:sp>
        <p:nvSpPr>
          <p:cNvPr id="110" name="Text 94"/>
          <p:cNvSpPr/>
          <p:nvPr/>
        </p:nvSpPr>
        <p:spPr>
          <a:xfrm>
            <a:off x="16559784" y="29379672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生値をそのままプロンプトに投入</a:t>
            </a:r>
            <a:endParaRPr lang="en-US" sz="1700" dirty="0"/>
          </a:p>
        </p:txBody>
      </p:sp>
      <p:sp>
        <p:nvSpPr>
          <p:cNvPr id="111" name="Text 95"/>
          <p:cNvSpPr/>
          <p:nvPr/>
        </p:nvSpPr>
        <p:spPr>
          <a:xfrm>
            <a:off x="16559784" y="29672280"/>
            <a:ext cx="1170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0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「あつい…！ ボク、溶けちゃうよ…！」</a:t>
            </a:r>
            <a:endParaRPr lang="en-US" sz="2000" dirty="0"/>
          </a:p>
        </p:txBody>
      </p:sp>
      <p:sp>
        <p:nvSpPr>
          <p:cNvPr id="112" name="Text 96"/>
          <p:cNvSpPr/>
          <p:nvPr/>
        </p:nvSpPr>
        <p:spPr>
          <a:xfrm>
            <a:off x="16559784" y="30147768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センサー異常を植物の体感として誤って解釈する</a:t>
            </a:r>
            <a:endParaRPr lang="en-US" sz="1700" dirty="0"/>
          </a:p>
        </p:txBody>
      </p:sp>
      <p:sp>
        <p:nvSpPr>
          <p:cNvPr id="113" name="Shape 97"/>
          <p:cNvSpPr/>
          <p:nvPr/>
        </p:nvSpPr>
        <p:spPr>
          <a:xfrm>
            <a:off x="16194024" y="30769560"/>
            <a:ext cx="12435840" cy="2148840"/>
          </a:xfrm>
          <a:prstGeom prst="rect">
            <a:avLst/>
          </a:prstGeom>
          <a:solidFill>
            <a:srgbClr val="E2EFD6"/>
          </a:solidFill>
          <a:ln/>
        </p:spPr>
      </p:sp>
      <p:pic>
        <p:nvPicPr>
          <p:cNvPr id="1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59784" y="30998160"/>
            <a:ext cx="621792" cy="621792"/>
          </a:xfrm>
          <a:prstGeom prst="rect">
            <a:avLst/>
          </a:prstGeom>
        </p:spPr>
      </p:pic>
      <p:sp>
        <p:nvSpPr>
          <p:cNvPr id="115" name="Text 98"/>
          <p:cNvSpPr/>
          <p:nvPr/>
        </p:nvSpPr>
        <p:spPr>
          <a:xfrm>
            <a:off x="17364456" y="30934152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PlanterAI（本提案）</a:t>
            </a:r>
            <a:endParaRPr lang="en-US" sz="2300" dirty="0"/>
          </a:p>
        </p:txBody>
      </p:sp>
      <p:sp>
        <p:nvSpPr>
          <p:cNvPr id="116" name="Text 99"/>
          <p:cNvSpPr/>
          <p:nvPr/>
        </p:nvSpPr>
        <p:spPr>
          <a:xfrm>
            <a:off x="16559784" y="31665672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 側の異常値ガード → 中央値フィルタ → ルールベースが判定</a:t>
            </a:r>
            <a:endParaRPr lang="en-US" sz="1700" dirty="0"/>
          </a:p>
        </p:txBody>
      </p:sp>
      <p:sp>
        <p:nvSpPr>
          <p:cNvPr id="117" name="Text 100"/>
          <p:cNvSpPr/>
          <p:nvPr/>
        </p:nvSpPr>
        <p:spPr>
          <a:xfrm>
            <a:off x="16559784" y="31958280"/>
            <a:ext cx="1170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「おとといからずっと、のど かわいてるの…」</a:t>
            </a:r>
            <a:endParaRPr lang="en-US" sz="2000" dirty="0"/>
          </a:p>
        </p:txBody>
      </p:sp>
      <p:sp>
        <p:nvSpPr>
          <p:cNvPr id="118" name="Text 101"/>
          <p:cNvSpPr/>
          <p:nvPr/>
        </p:nvSpPr>
        <p:spPr>
          <a:xfrm>
            <a:off x="16559784" y="32433768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確定済みの主訴のみを発話し、異常値の影響を受けない</a:t>
            </a:r>
            <a:endParaRPr lang="en-US" sz="1700" dirty="0"/>
          </a:p>
        </p:txBody>
      </p:sp>
      <p:sp>
        <p:nvSpPr>
          <p:cNvPr id="119" name="Text 102"/>
          <p:cNvSpPr/>
          <p:nvPr/>
        </p:nvSpPr>
        <p:spPr>
          <a:xfrm>
            <a:off x="16194024" y="33055560"/>
            <a:ext cx="1243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汚染された中央値フィルタの窓は、正常値 3 回の受信で自己修復した</a:t>
            </a:r>
            <a:pPr indent="0" marL="0">
              <a:buNone/>
            </a:pPr>
            <a:r>
              <a:rPr lang="en-US" sz="18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（湿度スコア 76 → 77 → 89）</a:t>
            </a:r>
            <a:endParaRPr lang="en-US" sz="1800" dirty="0"/>
          </a:p>
        </p:txBody>
      </p:sp>
      <p:sp>
        <p:nvSpPr>
          <p:cNvPr id="120" name="Text 103"/>
          <p:cNvSpPr/>
          <p:nvPr/>
        </p:nvSpPr>
        <p:spPr>
          <a:xfrm>
            <a:off x="16194024" y="33558480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 1　実機で発生した異常値に対する出力の比較</a:t>
            </a:r>
            <a:endParaRPr lang="en-US" sz="1700" dirty="0"/>
          </a:p>
        </p:txBody>
      </p:sp>
      <p:sp>
        <p:nvSpPr>
          <p:cNvPr id="121" name="Text 104"/>
          <p:cNvSpPr/>
          <p:nvPr/>
        </p:nvSpPr>
        <p:spPr>
          <a:xfrm>
            <a:off x="16194024" y="34107120"/>
            <a:ext cx="1243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通知頻度の制御</a:t>
            </a:r>
            <a:endParaRPr lang="en-US" sz="2600" dirty="0"/>
          </a:p>
        </p:txBody>
      </p:sp>
      <p:sp>
        <p:nvSpPr>
          <p:cNvPr id="122" name="Text 105"/>
          <p:cNvSpPr/>
          <p:nvPr/>
        </p:nvSpPr>
        <p:spPr>
          <a:xfrm>
            <a:off x="16194024" y="34747200"/>
            <a:ext cx="12435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判定の基準を「最後に実際に通知した状態」に変え、60 分のクールダウンを設けた</a:t>
            </a:r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。スコア境界の往復による通知の急増を抑えつつ、クールダウン中の悪化も取りこぼさない</a:t>
            </a:r>
            <a:endParaRPr lang="en-US" sz="19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危険域はクールダウンを無視して即通知する</a:t>
            </a:r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。抑制と安全を両立させる非対称設計とした</a:t>
            </a:r>
            <a:endParaRPr lang="en-US" sz="19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日照不足は日次積算光量、日照過剰は瞬時 lux で判定した</a:t>
            </a:r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。判定軸を分けることで夜間の誤警報を構造的に解消した。目標値は 2 週間の実測から 10,000 lux·h に確定</a:t>
            </a:r>
            <a:endParaRPr lang="en-US" sz="19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2A34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ロジック検証 27 件・通知判定 11 件がすべて通過した</a:t>
            </a:r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。閾値変更時も回帰確認ができる</a:t>
            </a:r>
            <a:endParaRPr lang="en-US" sz="1900" dirty="0"/>
          </a:p>
        </p:txBody>
      </p:sp>
      <p:sp>
        <p:nvSpPr>
          <p:cNvPr id="123" name="Text 106"/>
          <p:cNvSpPr/>
          <p:nvPr/>
        </p:nvSpPr>
        <p:spPr>
          <a:xfrm>
            <a:off x="16194024" y="3872484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今後の展望</a:t>
            </a:r>
            <a:endParaRPr lang="en-US" sz="2600" dirty="0"/>
          </a:p>
        </p:txBody>
      </p:sp>
      <p:sp>
        <p:nvSpPr>
          <p:cNvPr id="124" name="Shape 107"/>
          <p:cNvSpPr/>
          <p:nvPr/>
        </p:nvSpPr>
        <p:spPr>
          <a:xfrm>
            <a:off x="16267176" y="39273480"/>
            <a:ext cx="3998976" cy="1874520"/>
          </a:xfrm>
          <a:prstGeom prst="rect">
            <a:avLst/>
          </a:prstGeom>
          <a:solidFill>
            <a:srgbClr val="E2EFD6"/>
          </a:solidFill>
          <a:ln/>
        </p:spPr>
      </p:sp>
      <p:pic>
        <p:nvPicPr>
          <p:cNvPr id="12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46624" y="39410640"/>
            <a:ext cx="640080" cy="640080"/>
          </a:xfrm>
          <a:prstGeom prst="rect">
            <a:avLst/>
          </a:prstGeom>
        </p:spPr>
      </p:pic>
      <p:sp>
        <p:nvSpPr>
          <p:cNvPr id="126" name="Text 108"/>
          <p:cNvSpPr/>
          <p:nvPr/>
        </p:nvSpPr>
        <p:spPr>
          <a:xfrm>
            <a:off x="16331184" y="40078152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表情表現の拡張</a:t>
            </a:r>
            <a:endParaRPr lang="en-US" sz="1900" dirty="0"/>
          </a:p>
        </p:txBody>
      </p:sp>
      <p:sp>
        <p:nvSpPr>
          <p:cNvPr id="127" name="Text 109"/>
          <p:cNvSpPr/>
          <p:nvPr/>
        </p:nvSpPr>
        <p:spPr>
          <a:xfrm>
            <a:off x="16331184" y="4050792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仕草と感情の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バリエーションを増やす</a:t>
            </a:r>
            <a:endParaRPr lang="en-US" sz="1500" dirty="0"/>
          </a:p>
        </p:txBody>
      </p:sp>
      <p:sp>
        <p:nvSpPr>
          <p:cNvPr id="128" name="Shape 110"/>
          <p:cNvSpPr/>
          <p:nvPr/>
        </p:nvSpPr>
        <p:spPr>
          <a:xfrm>
            <a:off x="20412456" y="39273480"/>
            <a:ext cx="3998976" cy="1874520"/>
          </a:xfrm>
          <a:prstGeom prst="rect">
            <a:avLst/>
          </a:prstGeom>
          <a:solidFill>
            <a:srgbClr val="E2EFD6"/>
          </a:solidFill>
          <a:ln/>
        </p:spPr>
      </p:sp>
      <p:pic>
        <p:nvPicPr>
          <p:cNvPr id="129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091904" y="39410640"/>
            <a:ext cx="640080" cy="640080"/>
          </a:xfrm>
          <a:prstGeom prst="rect">
            <a:avLst/>
          </a:prstGeom>
        </p:spPr>
      </p:pic>
      <p:sp>
        <p:nvSpPr>
          <p:cNvPr id="130" name="Text 111"/>
          <p:cNvSpPr/>
          <p:nvPr/>
        </p:nvSpPr>
        <p:spPr>
          <a:xfrm>
            <a:off x="20476464" y="40078152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専用アプリ</a:t>
            </a:r>
            <a:endParaRPr lang="en-US" sz="1900" dirty="0"/>
          </a:p>
        </p:txBody>
      </p:sp>
      <p:sp>
        <p:nvSpPr>
          <p:cNvPr id="131" name="Text 112"/>
          <p:cNvSpPr/>
          <p:nvPr/>
        </p:nvSpPr>
        <p:spPr>
          <a:xfrm>
            <a:off x="20476464" y="4050792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アバターがステータスと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連動して変化する</a:t>
            </a:r>
            <a:endParaRPr lang="en-US" sz="1500" dirty="0"/>
          </a:p>
        </p:txBody>
      </p:sp>
      <p:sp>
        <p:nvSpPr>
          <p:cNvPr id="132" name="Shape 113"/>
          <p:cNvSpPr/>
          <p:nvPr/>
        </p:nvSpPr>
        <p:spPr>
          <a:xfrm>
            <a:off x="24557736" y="39273480"/>
            <a:ext cx="3998976" cy="1874520"/>
          </a:xfrm>
          <a:prstGeom prst="rect">
            <a:avLst/>
          </a:prstGeom>
          <a:solidFill>
            <a:srgbClr val="E2EFD6"/>
          </a:solidFill>
          <a:ln/>
        </p:spPr>
      </p:sp>
      <p:pic>
        <p:nvPicPr>
          <p:cNvPr id="133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37184" y="39410640"/>
            <a:ext cx="640080" cy="640080"/>
          </a:xfrm>
          <a:prstGeom prst="rect">
            <a:avLst/>
          </a:prstGeom>
        </p:spPr>
      </p:pic>
      <p:sp>
        <p:nvSpPr>
          <p:cNvPr id="134" name="Text 114"/>
          <p:cNvSpPr/>
          <p:nvPr/>
        </p:nvSpPr>
        <p:spPr>
          <a:xfrm>
            <a:off x="24621744" y="40078152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45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カメラによる視覚認識</a:t>
            </a:r>
            <a:endParaRPr lang="en-US" sz="1900" dirty="0"/>
          </a:p>
        </p:txBody>
      </p:sp>
      <p:sp>
        <p:nvSpPr>
          <p:cNvPr id="135" name="Text 115"/>
          <p:cNvSpPr/>
          <p:nvPr/>
        </p:nvSpPr>
        <p:spPr>
          <a:xfrm>
            <a:off x="24621744" y="40507920"/>
            <a:ext cx="387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葉色・萎れを数値化し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1 の入力に合流</a:t>
            </a:r>
            <a:endParaRPr lang="en-US" sz="1500" dirty="0"/>
          </a:p>
        </p:txBody>
      </p:sp>
      <p:sp>
        <p:nvSpPr>
          <p:cNvPr id="136" name="Text 116"/>
          <p:cNvSpPr/>
          <p:nvPr/>
        </p:nvSpPr>
        <p:spPr>
          <a:xfrm>
            <a:off x="1005840" y="41970960"/>
            <a:ext cx="2825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A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[1] 総務省統計局（2018-2025）「家計調査（総世帯）家計収支編 詳細結果表」政府統計の総合窓口（e-Stat）　[2] Mu Design, Lua – the smart planter with feelings　[3] Xiaomi, Smart Flower Pot 製品仕様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2026-08-24T01:36:41Z</dcterms:created>
  <dcterms:modified xsi:type="dcterms:W3CDTF">2026-08-24T01:36:41Z</dcterms:modified>
</cp:coreProperties>
</file>